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5740975" cy="20104100"/>
  <p:notesSz cx="14224000" cy="201041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54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848F06-2CA0-4E54-8487-96102CE1F284}" v="139" dt="2026-05-14T04:16:46.215"/>
    <p1510:client id="{509BE127-EDEC-6445-4D9B-DA0DEC7D2353}" v="62" dt="2026-05-14T03:37:03.139"/>
    <p1510:client id="{918A1D34-5B41-444B-B39D-9B63A555CC52}" v="585" dt="2026-05-14T15:41:2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41" autoAdjust="0"/>
  </p:normalViewPr>
  <p:slideViewPr>
    <p:cSldViewPr>
      <p:cViewPr varScale="1">
        <p:scale>
          <a:sx n="26" d="100"/>
          <a:sy n="26" d="100"/>
        </p:scale>
        <p:origin x="125" y="29"/>
      </p:cViewPr>
      <p:guideLst>
        <p:guide orient="horz" pos="2880"/>
        <p:guide pos="5427"/>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164263" cy="10080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8056563" y="0"/>
            <a:ext cx="6164262" cy="1008063"/>
          </a:xfrm>
          <a:prstGeom prst="rect">
            <a:avLst/>
          </a:prstGeom>
        </p:spPr>
        <p:txBody>
          <a:bodyPr vert="horz" lIns="91440" tIns="45720" rIns="91440" bIns="45720" rtlCol="0"/>
          <a:lstStyle>
            <a:lvl1pPr algn="r">
              <a:defRPr sz="1200"/>
            </a:lvl1pPr>
          </a:lstStyle>
          <a:p>
            <a:fld id="{8303DE3A-13C0-4533-8B29-19902CD2FB5A}" type="datetimeFigureOut">
              <a:rPr lang="en-US" smtClean="0"/>
              <a:t>05/14/26</a:t>
            </a:fld>
            <a:endParaRPr lang="en-US"/>
          </a:p>
        </p:txBody>
      </p:sp>
      <p:sp>
        <p:nvSpPr>
          <p:cNvPr id="4" name="Slide Image Placeholder 3"/>
          <p:cNvSpPr>
            <a:spLocks noGrp="1" noRot="1" noChangeAspect="1"/>
          </p:cNvSpPr>
          <p:nvPr>
            <p:ph type="sldImg" idx="2"/>
          </p:nvPr>
        </p:nvSpPr>
        <p:spPr>
          <a:xfrm>
            <a:off x="1081088" y="2513013"/>
            <a:ext cx="12061825" cy="67849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422400" y="9675813"/>
            <a:ext cx="11379200" cy="79152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9096038"/>
            <a:ext cx="6164263" cy="100806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8056563" y="19096038"/>
            <a:ext cx="6164262" cy="1008062"/>
          </a:xfrm>
          <a:prstGeom prst="rect">
            <a:avLst/>
          </a:prstGeom>
        </p:spPr>
        <p:txBody>
          <a:bodyPr vert="horz" lIns="91440" tIns="45720" rIns="91440" bIns="45720" rtlCol="0" anchor="b"/>
          <a:lstStyle>
            <a:lvl1pPr algn="r">
              <a:defRPr sz="1200"/>
            </a:lvl1pPr>
          </a:lstStyle>
          <a:p>
            <a:fld id="{4BF4097C-C56F-4874-9303-1CA7D4C2856E}" type="slidenum">
              <a:rPr lang="en-US" smtClean="0"/>
              <a:t>‹#›</a:t>
            </a:fld>
            <a:endParaRPr lang="en-US"/>
          </a:p>
        </p:txBody>
      </p:sp>
    </p:spTree>
    <p:extLst>
      <p:ext uri="{BB962C8B-B14F-4D97-AF65-F5344CB8AC3E}">
        <p14:creationId xmlns:p14="http://schemas.microsoft.com/office/powerpoint/2010/main" val="3932960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1088" y="2513013"/>
            <a:ext cx="12061825" cy="67849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F4097C-C56F-4874-9303-1CA7D4C2856E}" type="slidenum">
              <a:rPr lang="en-US" smtClean="0"/>
              <a:t>1</a:t>
            </a:fld>
            <a:endParaRPr lang="en-US"/>
          </a:p>
        </p:txBody>
      </p:sp>
    </p:spTree>
    <p:extLst>
      <p:ext uri="{BB962C8B-B14F-4D97-AF65-F5344CB8AC3E}">
        <p14:creationId xmlns:p14="http://schemas.microsoft.com/office/powerpoint/2010/main" val="3577309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680575" y="6232273"/>
            <a:ext cx="30379828"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5361147" y="11258299"/>
            <a:ext cx="25018683"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05/14/26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05/14/26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1787049" y="4623946"/>
            <a:ext cx="15547324" cy="276999"/>
          </a:xfrm>
          <a:prstGeom prst="rect">
            <a:avLst/>
          </a:prstGeom>
        </p:spPr>
        <p:txBody>
          <a:bodyPr wrap="square" lIns="0" tIns="0" rIns="0" bIns="0">
            <a:spAutoFit/>
          </a:bodyPr>
          <a:lstStyle>
            <a:lvl1pPr>
              <a:defRPr/>
            </a:lvl1pPr>
          </a:lstStyle>
          <a:p>
            <a:endParaRPr dirty="0"/>
          </a:p>
        </p:txBody>
      </p:sp>
      <p:sp>
        <p:nvSpPr>
          <p:cNvPr id="4" name="Holder 4"/>
          <p:cNvSpPr>
            <a:spLocks noGrp="1"/>
          </p:cNvSpPr>
          <p:nvPr>
            <p:ph sz="half" idx="3"/>
          </p:nvPr>
        </p:nvSpPr>
        <p:spPr>
          <a:xfrm>
            <a:off x="18406602" y="4623946"/>
            <a:ext cx="15547324" cy="276999"/>
          </a:xfrm>
          <a:prstGeom prst="rect">
            <a:avLst/>
          </a:prstGeom>
        </p:spPr>
        <p:txBody>
          <a:bodyPr wrap="square" lIns="0" tIns="0" rIns="0" bIns="0">
            <a:spAutoFit/>
          </a:bodyPr>
          <a:lstStyle>
            <a:lvl1pPr>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05/14/26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05/14/26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05/14/26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extLst>
    <p:ext uri="{DCECCB84-F9BA-43D5-87BE-67443E8EF086}">
      <p15:sldGuideLst xmlns:p15="http://schemas.microsoft.com/office/powerpoint/2012/main">
        <p15:guide id="1" orient="horz" pos="6332" userDrawn="1">
          <p15:clr>
            <a:srgbClr val="FBAE40"/>
          </p15:clr>
        </p15:guide>
        <p15:guide id="2" pos="11258"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3225" y="3286763"/>
            <a:ext cx="35732997" cy="16817975"/>
          </a:xfrm>
          <a:custGeom>
            <a:avLst/>
            <a:gdLst/>
            <a:ahLst/>
            <a:cxnLst/>
            <a:rect l="l" t="t" r="r" b="b"/>
            <a:pathLst>
              <a:path w="14220825" h="16817975">
                <a:moveTo>
                  <a:pt x="0" y="16817565"/>
                </a:moveTo>
                <a:lnTo>
                  <a:pt x="14220264" y="16817565"/>
                </a:lnTo>
                <a:lnTo>
                  <a:pt x="14220264" y="0"/>
                </a:lnTo>
                <a:lnTo>
                  <a:pt x="0" y="0"/>
                </a:lnTo>
                <a:lnTo>
                  <a:pt x="0" y="16817565"/>
                </a:lnTo>
                <a:close/>
              </a:path>
            </a:pathLst>
          </a:custGeom>
          <a:solidFill>
            <a:srgbClr val="BEBEBE"/>
          </a:solidFill>
        </p:spPr>
        <p:txBody>
          <a:bodyPr wrap="square" lIns="0" tIns="0" rIns="0" bIns="0" rtlCol="0"/>
          <a:lstStyle/>
          <a:p>
            <a:endParaRPr/>
          </a:p>
        </p:txBody>
      </p:sp>
      <p:sp>
        <p:nvSpPr>
          <p:cNvPr id="17" name="bg object 17"/>
          <p:cNvSpPr/>
          <p:nvPr/>
        </p:nvSpPr>
        <p:spPr>
          <a:xfrm>
            <a:off x="0" y="0"/>
            <a:ext cx="35736186" cy="3286760"/>
          </a:xfrm>
          <a:custGeom>
            <a:avLst/>
            <a:gdLst/>
            <a:ahLst/>
            <a:cxnLst/>
            <a:rect l="l" t="t" r="r" b="b"/>
            <a:pathLst>
              <a:path w="14222094" h="3286760">
                <a:moveTo>
                  <a:pt x="14221756" y="3286534"/>
                </a:moveTo>
                <a:lnTo>
                  <a:pt x="0" y="3286534"/>
                </a:lnTo>
                <a:lnTo>
                  <a:pt x="0" y="0"/>
                </a:lnTo>
                <a:lnTo>
                  <a:pt x="14221756" y="0"/>
                </a:lnTo>
                <a:lnTo>
                  <a:pt x="14221756" y="3286534"/>
                </a:lnTo>
                <a:close/>
              </a:path>
            </a:pathLst>
          </a:custGeom>
          <a:solidFill>
            <a:srgbClr val="7B131A"/>
          </a:solidFill>
        </p:spPr>
        <p:txBody>
          <a:bodyPr wrap="square" lIns="0" tIns="0" rIns="0" bIns="0" rtlCol="0"/>
          <a:lstStyle/>
          <a:p>
            <a:endParaRPr/>
          </a:p>
        </p:txBody>
      </p:sp>
      <p:sp>
        <p:nvSpPr>
          <p:cNvPr id="18" name="bg object 18"/>
          <p:cNvSpPr/>
          <p:nvPr/>
        </p:nvSpPr>
        <p:spPr>
          <a:xfrm>
            <a:off x="11657240" y="10192920"/>
            <a:ext cx="23780513" cy="7101205"/>
          </a:xfrm>
          <a:custGeom>
            <a:avLst/>
            <a:gdLst/>
            <a:ahLst/>
            <a:cxnLst/>
            <a:rect l="l" t="t" r="r" b="b"/>
            <a:pathLst>
              <a:path w="9464040" h="7101205">
                <a:moveTo>
                  <a:pt x="9463464" y="7100664"/>
                </a:moveTo>
                <a:lnTo>
                  <a:pt x="0" y="7100664"/>
                </a:lnTo>
                <a:lnTo>
                  <a:pt x="0" y="0"/>
                </a:lnTo>
                <a:lnTo>
                  <a:pt x="9463464" y="0"/>
                </a:lnTo>
                <a:lnTo>
                  <a:pt x="9463464" y="7100664"/>
                </a:lnTo>
                <a:close/>
              </a:path>
            </a:pathLst>
          </a:custGeom>
          <a:solidFill>
            <a:srgbClr val="FFFFFF"/>
          </a:solidFill>
        </p:spPr>
        <p:txBody>
          <a:bodyPr wrap="square" lIns="0" tIns="0" rIns="0" bIns="0" rtlCol="0"/>
          <a:lstStyle/>
          <a:p>
            <a:endParaRPr/>
          </a:p>
        </p:txBody>
      </p:sp>
      <p:sp>
        <p:nvSpPr>
          <p:cNvPr id="19" name="bg object 19"/>
          <p:cNvSpPr/>
          <p:nvPr/>
        </p:nvSpPr>
        <p:spPr>
          <a:xfrm>
            <a:off x="23546771" y="10192920"/>
            <a:ext cx="0" cy="7101205"/>
          </a:xfrm>
          <a:custGeom>
            <a:avLst/>
            <a:gdLst/>
            <a:ahLst/>
            <a:cxnLst/>
            <a:rect l="l" t="t" r="r" b="b"/>
            <a:pathLst>
              <a:path h="7101205">
                <a:moveTo>
                  <a:pt x="0" y="0"/>
                </a:moveTo>
                <a:lnTo>
                  <a:pt x="0" y="7100664"/>
                </a:lnTo>
              </a:path>
            </a:pathLst>
          </a:custGeom>
          <a:ln w="4475">
            <a:solidFill>
              <a:srgbClr val="000000"/>
            </a:solidFill>
          </a:ln>
        </p:spPr>
        <p:txBody>
          <a:bodyPr wrap="square" lIns="0" tIns="0" rIns="0" bIns="0" rtlCol="0"/>
          <a:lstStyle/>
          <a:p>
            <a:endParaRPr/>
          </a:p>
        </p:txBody>
      </p:sp>
      <p:sp>
        <p:nvSpPr>
          <p:cNvPr id="2" name="Holder 2"/>
          <p:cNvSpPr>
            <a:spLocks noGrp="1"/>
          </p:cNvSpPr>
          <p:nvPr>
            <p:ph type="title"/>
          </p:nvPr>
        </p:nvSpPr>
        <p:spPr>
          <a:xfrm>
            <a:off x="1787049" y="804166"/>
            <a:ext cx="32166879"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14296389" y="5061283"/>
            <a:ext cx="32166879" cy="276999"/>
          </a:xfrm>
          <a:prstGeom prst="rect">
            <a:avLst/>
          </a:prstGeom>
        </p:spPr>
        <p:txBody>
          <a:bodyPr wrap="square" lIns="0" tIns="0" rIns="0" bIns="0">
            <a:spAutoFit/>
          </a:bodyPr>
          <a:lstStyle>
            <a:lvl1pPr>
              <a:defRPr/>
            </a:lvl1pPr>
          </a:lstStyle>
          <a:p>
            <a:endParaRPr dirty="0"/>
          </a:p>
        </p:txBody>
      </p:sp>
      <p:sp>
        <p:nvSpPr>
          <p:cNvPr id="4" name="Holder 4"/>
          <p:cNvSpPr>
            <a:spLocks noGrp="1"/>
          </p:cNvSpPr>
          <p:nvPr>
            <p:ph type="ftr" sz="quarter" idx="5"/>
          </p:nvPr>
        </p:nvSpPr>
        <p:spPr>
          <a:xfrm>
            <a:off x="12151932" y="18696817"/>
            <a:ext cx="11437112"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787049" y="18696817"/>
            <a:ext cx="8220425"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05/14/26</a:t>
            </a:fld>
            <a:endParaRPr lang="en-US"/>
          </a:p>
        </p:txBody>
      </p:sp>
      <p:sp>
        <p:nvSpPr>
          <p:cNvPr id="6" name="Holder 6"/>
          <p:cNvSpPr>
            <a:spLocks noGrp="1"/>
          </p:cNvSpPr>
          <p:nvPr>
            <p:ph type="sldNum" sz="quarter" idx="7"/>
          </p:nvPr>
        </p:nvSpPr>
        <p:spPr>
          <a:xfrm>
            <a:off x="25733501" y="18696817"/>
            <a:ext cx="8220425"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1" orient="horz" pos="6332" userDrawn="1">
          <p15:clr>
            <a:srgbClr val="F26B43"/>
          </p15:clr>
        </p15:guide>
        <p15:guide id="2" pos="11258"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jpe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a:extLst>
              <a:ext uri="{FF2B5EF4-FFF2-40B4-BE49-F238E27FC236}">
                <a16:creationId xmlns:a16="http://schemas.microsoft.com/office/drawing/2014/main" id="{2F1CD2F5-68FD-4385-CAFA-C7A9D57CC286}"/>
              </a:ext>
            </a:extLst>
          </p:cNvPr>
          <p:cNvSpPr/>
          <p:nvPr/>
        </p:nvSpPr>
        <p:spPr>
          <a:xfrm>
            <a:off x="10879162" y="6362798"/>
            <a:ext cx="4344669" cy="428625"/>
          </a:xfrm>
          <a:custGeom>
            <a:avLst/>
            <a:gdLst/>
            <a:ahLst/>
            <a:cxnLst/>
            <a:rect l="l" t="t" r="r" b="b"/>
            <a:pathLst>
              <a:path w="4344670" h="428625">
                <a:moveTo>
                  <a:pt x="4344440" y="428100"/>
                </a:moveTo>
                <a:lnTo>
                  <a:pt x="0" y="428100"/>
                </a:lnTo>
                <a:lnTo>
                  <a:pt x="0" y="0"/>
                </a:lnTo>
                <a:lnTo>
                  <a:pt x="4344440" y="0"/>
                </a:lnTo>
                <a:lnTo>
                  <a:pt x="4344440" y="428100"/>
                </a:lnTo>
                <a:close/>
              </a:path>
            </a:pathLst>
          </a:custGeom>
          <a:solidFill>
            <a:srgbClr val="7B131A"/>
          </a:solidFill>
        </p:spPr>
        <p:txBody>
          <a:bodyPr wrap="square" lIns="0" tIns="0" rIns="0" bIns="0" rtlCol="0"/>
          <a:lstStyle/>
          <a:p>
            <a:endParaRPr/>
          </a:p>
        </p:txBody>
      </p:sp>
      <p:sp>
        <p:nvSpPr>
          <p:cNvPr id="3" name="object 3"/>
          <p:cNvSpPr/>
          <p:nvPr/>
        </p:nvSpPr>
        <p:spPr>
          <a:xfrm>
            <a:off x="10964760" y="3844072"/>
            <a:ext cx="4239998" cy="2450055"/>
          </a:xfrm>
          <a:custGeom>
            <a:avLst/>
            <a:gdLst/>
            <a:ahLst/>
            <a:cxnLst/>
            <a:rect l="l" t="t" r="r" b="b"/>
            <a:pathLst>
              <a:path w="4344670" h="2201545">
                <a:moveTo>
                  <a:pt x="4344439" y="2201117"/>
                </a:moveTo>
                <a:lnTo>
                  <a:pt x="0" y="2201117"/>
                </a:lnTo>
                <a:lnTo>
                  <a:pt x="0" y="0"/>
                </a:lnTo>
                <a:lnTo>
                  <a:pt x="4344439" y="0"/>
                </a:lnTo>
                <a:lnTo>
                  <a:pt x="4344439" y="2201117"/>
                </a:lnTo>
                <a:close/>
              </a:path>
            </a:pathLst>
          </a:custGeom>
          <a:solidFill>
            <a:srgbClr val="FFFFFF"/>
          </a:solidFill>
        </p:spPr>
        <p:txBody>
          <a:bodyPr wrap="square" lIns="0" tIns="0" rIns="0" bIns="0" rtlCol="0"/>
          <a:lstStyle/>
          <a:p>
            <a:pPr marL="55563" algn="just" defTabSz="301625" rtl="0" fontAlgn="base">
              <a:tabLst>
                <a:tab pos="2286000" algn="l"/>
              </a:tabLst>
            </a:pPr>
            <a:endParaRPr lang="vi-VN" sz="1700">
              <a:latin typeface="+mj-lt"/>
            </a:endParaRPr>
          </a:p>
        </p:txBody>
      </p:sp>
      <p:sp>
        <p:nvSpPr>
          <p:cNvPr id="4" name="object 4"/>
          <p:cNvSpPr txBox="1"/>
          <p:nvPr/>
        </p:nvSpPr>
        <p:spPr>
          <a:xfrm>
            <a:off x="10890468" y="3922611"/>
            <a:ext cx="4264025" cy="444352"/>
          </a:xfrm>
          <a:prstGeom prst="rect">
            <a:avLst/>
          </a:prstGeom>
        </p:spPr>
        <p:txBody>
          <a:bodyPr vert="horz" wrap="square" lIns="0" tIns="15875" rIns="0" bIns="0" rtlCol="0">
            <a:spAutoFit/>
          </a:bodyPr>
          <a:lstStyle/>
          <a:p>
            <a:pPr marL="41275">
              <a:spcBef>
                <a:spcPts val="690"/>
              </a:spcBef>
            </a:pPr>
            <a:endParaRPr lang="en-US" sz="1100" b="1">
              <a:solidFill>
                <a:srgbClr val="7B1300"/>
              </a:solidFill>
              <a:latin typeface="Times New Roman"/>
              <a:cs typeface="Times New Roman"/>
            </a:endParaRPr>
          </a:p>
          <a:p>
            <a:pPr marL="41275">
              <a:spcBef>
                <a:spcPts val="690"/>
              </a:spcBef>
            </a:pPr>
            <a:endParaRPr sz="1100">
              <a:latin typeface="Times New Roman"/>
              <a:cs typeface="Times New Roman"/>
            </a:endParaRPr>
          </a:p>
        </p:txBody>
      </p:sp>
      <p:sp>
        <p:nvSpPr>
          <p:cNvPr id="6" name="object 6"/>
          <p:cNvSpPr/>
          <p:nvPr/>
        </p:nvSpPr>
        <p:spPr>
          <a:xfrm>
            <a:off x="10892612" y="3357699"/>
            <a:ext cx="4344670" cy="428625"/>
          </a:xfrm>
          <a:custGeom>
            <a:avLst/>
            <a:gdLst/>
            <a:ahLst/>
            <a:cxnLst/>
            <a:rect l="l" t="t" r="r" b="b"/>
            <a:pathLst>
              <a:path w="4344670" h="428625">
                <a:moveTo>
                  <a:pt x="4344440" y="428100"/>
                </a:moveTo>
                <a:lnTo>
                  <a:pt x="0" y="428100"/>
                </a:lnTo>
                <a:lnTo>
                  <a:pt x="0" y="0"/>
                </a:lnTo>
                <a:lnTo>
                  <a:pt x="4344440" y="0"/>
                </a:lnTo>
                <a:lnTo>
                  <a:pt x="4344440" y="428100"/>
                </a:lnTo>
                <a:close/>
              </a:path>
            </a:pathLst>
          </a:custGeom>
          <a:solidFill>
            <a:srgbClr val="7B131A"/>
          </a:solidFill>
        </p:spPr>
        <p:txBody>
          <a:bodyPr wrap="square" lIns="0" tIns="0" rIns="0" bIns="0" rtlCol="0"/>
          <a:lstStyle/>
          <a:p>
            <a:endParaRPr/>
          </a:p>
        </p:txBody>
      </p:sp>
      <p:sp>
        <p:nvSpPr>
          <p:cNvPr id="7" name="object 7"/>
          <p:cNvSpPr txBox="1"/>
          <p:nvPr/>
        </p:nvSpPr>
        <p:spPr>
          <a:xfrm>
            <a:off x="10732064" y="3399831"/>
            <a:ext cx="4344670" cy="312420"/>
          </a:xfrm>
          <a:prstGeom prst="rect">
            <a:avLst/>
          </a:prstGeom>
        </p:spPr>
        <p:txBody>
          <a:bodyPr vert="horz" wrap="square" lIns="0" tIns="16510" rIns="0" bIns="0" rtlCol="0">
            <a:spAutoFit/>
          </a:bodyPr>
          <a:lstStyle/>
          <a:p>
            <a:pPr marL="274320" algn="ctr">
              <a:spcBef>
                <a:spcPts val="130"/>
              </a:spcBef>
            </a:pPr>
            <a:r>
              <a:rPr lang="en-US" sz="1850" b="1" dirty="0" err="1">
                <a:solidFill>
                  <a:srgbClr val="FFFFFF"/>
                </a:solidFill>
                <a:latin typeface="Times New Roman"/>
                <a:cs typeface="Times New Roman"/>
              </a:rPr>
              <a:t>Xác</a:t>
            </a:r>
            <a:r>
              <a:rPr lang="en-US" sz="1850" b="1" dirty="0">
                <a:solidFill>
                  <a:srgbClr val="FFFFFF"/>
                </a:solidFill>
                <a:latin typeface="Times New Roman"/>
                <a:cs typeface="Times New Roman"/>
              </a:rPr>
              <a:t> </a:t>
            </a:r>
            <a:r>
              <a:rPr lang="en-US" sz="1850" b="1" dirty="0" err="1">
                <a:solidFill>
                  <a:srgbClr val="FFFFFF"/>
                </a:solidFill>
                <a:latin typeface="Times New Roman"/>
                <a:cs typeface="Times New Roman"/>
              </a:rPr>
              <a:t>định</a:t>
            </a:r>
            <a:r>
              <a:rPr lang="en-US" sz="1850" b="1" dirty="0">
                <a:solidFill>
                  <a:srgbClr val="FFFFFF"/>
                </a:solidFill>
                <a:latin typeface="Times New Roman"/>
                <a:cs typeface="Times New Roman"/>
              </a:rPr>
              <a:t> </a:t>
            </a:r>
            <a:r>
              <a:rPr lang="en-US" sz="1850" b="1" dirty="0" err="1">
                <a:solidFill>
                  <a:srgbClr val="FFFFFF"/>
                </a:solidFill>
                <a:latin typeface="Times New Roman"/>
                <a:cs typeface="Times New Roman"/>
              </a:rPr>
              <a:t>vấn</a:t>
            </a:r>
            <a:r>
              <a:rPr lang="en-US" sz="1850" b="1" dirty="0">
                <a:solidFill>
                  <a:srgbClr val="FFFFFF"/>
                </a:solidFill>
                <a:latin typeface="Times New Roman"/>
                <a:cs typeface="Times New Roman"/>
              </a:rPr>
              <a:t> </a:t>
            </a:r>
            <a:r>
              <a:rPr lang="en-US" sz="1850" b="1" dirty="0" err="1">
                <a:solidFill>
                  <a:srgbClr val="FFFFFF"/>
                </a:solidFill>
                <a:latin typeface="Times New Roman"/>
                <a:cs typeface="Times New Roman"/>
              </a:rPr>
              <a:t>đề</a:t>
            </a:r>
            <a:r>
              <a:rPr lang="en-US" sz="1850" b="1" dirty="0">
                <a:solidFill>
                  <a:srgbClr val="FFFFFF"/>
                </a:solidFill>
                <a:latin typeface="Times New Roman"/>
                <a:cs typeface="Times New Roman"/>
              </a:rPr>
              <a:t> </a:t>
            </a:r>
            <a:r>
              <a:rPr lang="en-US" sz="1850" b="1" dirty="0" err="1">
                <a:solidFill>
                  <a:srgbClr val="FFFFFF"/>
                </a:solidFill>
                <a:latin typeface="Times New Roman"/>
                <a:cs typeface="Times New Roman"/>
              </a:rPr>
              <a:t>và</a:t>
            </a:r>
            <a:r>
              <a:rPr lang="en-US" sz="1850" b="1" dirty="0">
                <a:solidFill>
                  <a:srgbClr val="FFFFFF"/>
                </a:solidFill>
                <a:latin typeface="Times New Roman"/>
                <a:cs typeface="Times New Roman"/>
              </a:rPr>
              <a:t> </a:t>
            </a:r>
            <a:r>
              <a:rPr lang="en-US" sz="1850" b="1" dirty="0" err="1">
                <a:solidFill>
                  <a:srgbClr val="FFFFFF"/>
                </a:solidFill>
                <a:latin typeface="Times New Roman"/>
                <a:cs typeface="Times New Roman"/>
              </a:rPr>
              <a:t>đóng</a:t>
            </a:r>
            <a:r>
              <a:rPr lang="en-US" sz="1850" b="1" dirty="0">
                <a:solidFill>
                  <a:srgbClr val="FFFFFF"/>
                </a:solidFill>
                <a:latin typeface="Times New Roman"/>
                <a:cs typeface="Times New Roman"/>
              </a:rPr>
              <a:t> </a:t>
            </a:r>
            <a:r>
              <a:rPr lang="en-US" sz="1850" b="1" dirty="0" err="1">
                <a:solidFill>
                  <a:srgbClr val="FFFFFF"/>
                </a:solidFill>
                <a:latin typeface="Times New Roman"/>
                <a:cs typeface="Times New Roman"/>
              </a:rPr>
              <a:t>góp</a:t>
            </a:r>
            <a:endParaRPr lang="en-US" sz="1850" dirty="0">
              <a:latin typeface="Times New Roman"/>
              <a:cs typeface="Times New Roman"/>
            </a:endParaRPr>
          </a:p>
        </p:txBody>
      </p:sp>
      <p:grpSp>
        <p:nvGrpSpPr>
          <p:cNvPr id="8" name="object 8"/>
          <p:cNvGrpSpPr/>
          <p:nvPr/>
        </p:nvGrpSpPr>
        <p:grpSpPr>
          <a:xfrm>
            <a:off x="15397830" y="1576593"/>
            <a:ext cx="9464040" cy="2209731"/>
            <a:chOff x="4639343" y="1576590"/>
            <a:chExt cx="9464040" cy="2209731"/>
          </a:xfrm>
        </p:grpSpPr>
        <p:pic>
          <p:nvPicPr>
            <p:cNvPr id="9" name="object 9"/>
            <p:cNvPicPr/>
            <p:nvPr/>
          </p:nvPicPr>
          <p:blipFill>
            <a:blip r:embed="rId3" cstate="print"/>
            <a:stretch>
              <a:fillRect/>
            </a:stretch>
          </p:blipFill>
          <p:spPr>
            <a:xfrm>
              <a:off x="12005916" y="1576590"/>
              <a:ext cx="1846598" cy="1305599"/>
            </a:xfrm>
            <a:prstGeom prst="rect">
              <a:avLst/>
            </a:prstGeom>
          </p:spPr>
        </p:pic>
        <p:sp>
          <p:nvSpPr>
            <p:cNvPr id="10" name="object 10"/>
            <p:cNvSpPr/>
            <p:nvPr/>
          </p:nvSpPr>
          <p:spPr>
            <a:xfrm>
              <a:off x="4639343" y="3357696"/>
              <a:ext cx="9464040" cy="428625"/>
            </a:xfrm>
            <a:custGeom>
              <a:avLst/>
              <a:gdLst/>
              <a:ahLst/>
              <a:cxnLst/>
              <a:rect l="l" t="t" r="r" b="b"/>
              <a:pathLst>
                <a:path w="9464040" h="428625">
                  <a:moveTo>
                    <a:pt x="9463464" y="428100"/>
                  </a:moveTo>
                  <a:lnTo>
                    <a:pt x="0" y="428100"/>
                  </a:lnTo>
                  <a:lnTo>
                    <a:pt x="0" y="0"/>
                  </a:lnTo>
                  <a:lnTo>
                    <a:pt x="9463464" y="0"/>
                  </a:lnTo>
                  <a:lnTo>
                    <a:pt x="9463464" y="428100"/>
                  </a:lnTo>
                  <a:close/>
                </a:path>
              </a:pathLst>
            </a:custGeom>
            <a:solidFill>
              <a:srgbClr val="7B131A"/>
            </a:solidFill>
          </p:spPr>
          <p:txBody>
            <a:bodyPr wrap="square" lIns="0" tIns="0" rIns="0" bIns="0" rtlCol="0"/>
            <a:lstStyle/>
            <a:p>
              <a:endParaRPr/>
            </a:p>
          </p:txBody>
        </p:sp>
      </p:grpSp>
      <p:sp>
        <p:nvSpPr>
          <p:cNvPr id="11" name="object 11"/>
          <p:cNvSpPr txBox="1"/>
          <p:nvPr/>
        </p:nvSpPr>
        <p:spPr>
          <a:xfrm>
            <a:off x="15397830" y="3406282"/>
            <a:ext cx="9464040" cy="312420"/>
          </a:xfrm>
          <a:prstGeom prst="rect">
            <a:avLst/>
          </a:prstGeom>
        </p:spPr>
        <p:txBody>
          <a:bodyPr vert="horz" wrap="square" lIns="0" tIns="16510" rIns="0" bIns="0" rtlCol="0">
            <a:spAutoFit/>
          </a:bodyPr>
          <a:lstStyle/>
          <a:p>
            <a:pPr algn="ctr">
              <a:spcBef>
                <a:spcPts val="130"/>
              </a:spcBef>
            </a:pPr>
            <a:r>
              <a:rPr lang="en-US" sz="1850" b="1" dirty="0" err="1">
                <a:solidFill>
                  <a:schemeClr val="bg1"/>
                </a:solidFill>
                <a:latin typeface="Times New Roman"/>
                <a:cs typeface="Times New Roman"/>
              </a:rPr>
              <a:t>Tổng</a:t>
            </a:r>
            <a:r>
              <a:rPr lang="en-US" sz="1850" b="1" dirty="0">
                <a:solidFill>
                  <a:schemeClr val="bg1"/>
                </a:solidFill>
                <a:latin typeface="Times New Roman"/>
                <a:cs typeface="Times New Roman"/>
              </a:rPr>
              <a:t> </a:t>
            </a:r>
            <a:r>
              <a:rPr lang="en-US" sz="1850" b="1" dirty="0" err="1">
                <a:solidFill>
                  <a:schemeClr val="bg1"/>
                </a:solidFill>
                <a:latin typeface="Times New Roman"/>
                <a:cs typeface="Times New Roman"/>
              </a:rPr>
              <a:t>quan</a:t>
            </a:r>
            <a:r>
              <a:rPr lang="en-US" sz="1850" b="1" dirty="0">
                <a:solidFill>
                  <a:schemeClr val="bg1"/>
                </a:solidFill>
                <a:latin typeface="Times New Roman"/>
                <a:cs typeface="Times New Roman"/>
              </a:rPr>
              <a:t> </a:t>
            </a:r>
            <a:r>
              <a:rPr lang="en-US" sz="1850" b="1" dirty="0" err="1">
                <a:solidFill>
                  <a:schemeClr val="bg1"/>
                </a:solidFill>
                <a:latin typeface="Times New Roman"/>
                <a:cs typeface="Times New Roman"/>
              </a:rPr>
              <a:t>hệ</a:t>
            </a:r>
            <a:r>
              <a:rPr lang="en-US" sz="1850" b="1" dirty="0">
                <a:solidFill>
                  <a:schemeClr val="bg1"/>
                </a:solidFill>
                <a:latin typeface="Times New Roman"/>
                <a:cs typeface="Times New Roman"/>
              </a:rPr>
              <a:t> </a:t>
            </a:r>
            <a:r>
              <a:rPr lang="en-US" sz="1850" b="1" dirty="0" err="1">
                <a:solidFill>
                  <a:schemeClr val="bg1"/>
                </a:solidFill>
                <a:latin typeface="Times New Roman"/>
                <a:cs typeface="Times New Roman"/>
              </a:rPr>
              <a:t>thống</a:t>
            </a:r>
            <a:endParaRPr sz="1850" b="1" dirty="0">
              <a:solidFill>
                <a:schemeClr val="bg1"/>
              </a:solidFill>
              <a:latin typeface="Times New Roman"/>
              <a:cs typeface="Times New Roman"/>
            </a:endParaRPr>
          </a:p>
        </p:txBody>
      </p:sp>
      <p:sp>
        <p:nvSpPr>
          <p:cNvPr id="12" name="object 12"/>
          <p:cNvSpPr/>
          <p:nvPr/>
        </p:nvSpPr>
        <p:spPr>
          <a:xfrm>
            <a:off x="18006115" y="17776823"/>
            <a:ext cx="6847840" cy="2214880"/>
          </a:xfrm>
          <a:custGeom>
            <a:avLst/>
            <a:gdLst/>
            <a:ahLst/>
            <a:cxnLst/>
            <a:rect l="l" t="t" r="r" b="b"/>
            <a:pathLst>
              <a:path w="6847840" h="2214880">
                <a:moveTo>
                  <a:pt x="6847638" y="2214367"/>
                </a:moveTo>
                <a:lnTo>
                  <a:pt x="0" y="2214367"/>
                </a:lnTo>
                <a:lnTo>
                  <a:pt x="0" y="0"/>
                </a:lnTo>
                <a:lnTo>
                  <a:pt x="6847638" y="0"/>
                </a:lnTo>
                <a:lnTo>
                  <a:pt x="6847638" y="2214367"/>
                </a:lnTo>
                <a:close/>
              </a:path>
            </a:pathLst>
          </a:custGeom>
          <a:solidFill>
            <a:srgbClr val="FFFFFF"/>
          </a:solidFill>
        </p:spPr>
        <p:txBody>
          <a:bodyPr wrap="square" lIns="0" tIns="0" rIns="0" bIns="0" rtlCol="0"/>
          <a:lstStyle/>
          <a:p>
            <a:endParaRPr/>
          </a:p>
        </p:txBody>
      </p:sp>
      <p:sp>
        <p:nvSpPr>
          <p:cNvPr id="13" name="object 13"/>
          <p:cNvSpPr txBox="1"/>
          <p:nvPr/>
        </p:nvSpPr>
        <p:spPr>
          <a:xfrm>
            <a:off x="18066565" y="17727068"/>
            <a:ext cx="6703695" cy="2299347"/>
          </a:xfrm>
          <a:prstGeom prst="rect">
            <a:avLst/>
          </a:prstGeom>
        </p:spPr>
        <p:txBody>
          <a:bodyPr vert="horz" wrap="square" lIns="0" tIns="87630" rIns="0" bIns="0" rtlCol="0">
            <a:spAutoFit/>
          </a:bodyPr>
          <a:lstStyle/>
          <a:p>
            <a:r>
              <a:rPr lang="vi-VN" sz="1200" b="1" dirty="0">
                <a:solidFill>
                  <a:srgbClr val="C00000"/>
                </a:solidFill>
                <a:latin typeface="+mj-lt"/>
              </a:rPr>
              <a:t>Kết luận:</a:t>
            </a:r>
            <a:br>
              <a:rPr lang="vi-VN" sz="1200" dirty="0">
                <a:solidFill>
                  <a:srgbClr val="C00000"/>
                </a:solidFill>
                <a:latin typeface="+mj-lt"/>
              </a:rPr>
            </a:br>
            <a:r>
              <a:rPr lang="vi-VN" sz="1200" dirty="0">
                <a:latin typeface="+mj-lt"/>
              </a:rPr>
              <a:t>Dự án đã xây dựng thành công hệ thống giám sát tổ ong ứng dụng IoT và Edge AI, cho phép thu thập, xử lý và truyền dữ liệu theo thời gian thực. Giải pháp góp phần hỗ trợ số hóa hoạt động nuôi ong, nâng cao khả năng theo dõi môi trường và phát hiện sớm các bất thường trong tổ ong.</a:t>
            </a:r>
          </a:p>
          <a:p>
            <a:r>
              <a:rPr lang="vi-VN" sz="1200" b="1" dirty="0">
                <a:solidFill>
                  <a:srgbClr val="C00000"/>
                </a:solidFill>
                <a:latin typeface="+mj-lt"/>
              </a:rPr>
              <a:t>Hướng phát triển:</a:t>
            </a:r>
            <a:endParaRPr lang="vi-VN" sz="1200" dirty="0">
              <a:solidFill>
                <a:srgbClr val="C00000"/>
              </a:solidFill>
              <a:latin typeface="+mj-lt"/>
            </a:endParaRPr>
          </a:p>
          <a:p>
            <a:pPr marL="171450" indent="-171450">
              <a:buFont typeface="Arial" panose="020B0604020202020204" pitchFamily="34" charset="0"/>
              <a:buChar char="•"/>
            </a:pPr>
            <a:r>
              <a:rPr lang="vi-VN" sz="1200" dirty="0">
                <a:latin typeface="+mj-lt"/>
              </a:rPr>
              <a:t>Mở rộng và tối ưu tập dữ liệu âm thanh ong nội địa Việt Nam nhằm nâng cao độ chính xác của mô hình AI. </a:t>
            </a:r>
          </a:p>
          <a:p>
            <a:pPr marL="171450" indent="-171450">
              <a:buFont typeface="Arial" panose="020B0604020202020204" pitchFamily="34" charset="0"/>
              <a:buChar char="•"/>
            </a:pPr>
            <a:r>
              <a:rPr lang="vi-VN" sz="1200" dirty="0">
                <a:latin typeface="+mj-lt"/>
              </a:rPr>
              <a:t>Phát triển thêm tính năng nhận diện thiên địch và các rủi ro ảnh hưởng đến đàn ong. </a:t>
            </a:r>
          </a:p>
          <a:p>
            <a:pPr marL="171450" indent="-171450">
              <a:buFont typeface="Arial" panose="020B0604020202020204" pitchFamily="34" charset="0"/>
              <a:buChar char="•"/>
            </a:pPr>
            <a:r>
              <a:rPr lang="vi-VN" sz="1200" dirty="0">
                <a:latin typeface="+mj-lt"/>
              </a:rPr>
              <a:t>Tối ưu năng lượng tiêu thụ bằng chế độ Deep Sleep và cơ chế đo dữ liệu định kỳ.</a:t>
            </a:r>
          </a:p>
          <a:p>
            <a:pPr marL="51435">
              <a:spcBef>
                <a:spcPts val="690"/>
              </a:spcBef>
            </a:pPr>
            <a:endParaRPr lang="en-US" sz="1200" b="1" spc="-20" dirty="0">
              <a:solidFill>
                <a:srgbClr val="7B1300"/>
              </a:solidFill>
              <a:latin typeface="+mj-lt"/>
              <a:cs typeface="Times New Roman"/>
            </a:endParaRPr>
          </a:p>
          <a:p>
            <a:pPr marL="86995">
              <a:spcBef>
                <a:spcPts val="690"/>
              </a:spcBef>
            </a:pPr>
            <a:endParaRPr sz="1200" dirty="0">
              <a:latin typeface="+mj-lt"/>
              <a:cs typeface="Times New Roman"/>
            </a:endParaRPr>
          </a:p>
        </p:txBody>
      </p:sp>
      <p:sp>
        <p:nvSpPr>
          <p:cNvPr id="15" name="object 15"/>
          <p:cNvSpPr/>
          <p:nvPr/>
        </p:nvSpPr>
        <p:spPr>
          <a:xfrm>
            <a:off x="10885171" y="3882060"/>
            <a:ext cx="13970635" cy="14707235"/>
          </a:xfrm>
          <a:custGeom>
            <a:avLst/>
            <a:gdLst/>
            <a:ahLst/>
            <a:cxnLst/>
            <a:rect l="l" t="t" r="r" b="b"/>
            <a:pathLst>
              <a:path w="13970635" h="14707235">
                <a:moveTo>
                  <a:pt x="6878231" y="13879792"/>
                </a:moveTo>
                <a:lnTo>
                  <a:pt x="0" y="13879792"/>
                </a:lnTo>
                <a:lnTo>
                  <a:pt x="0" y="14706816"/>
                </a:lnTo>
                <a:lnTo>
                  <a:pt x="6878231" y="14706816"/>
                </a:lnTo>
                <a:lnTo>
                  <a:pt x="6878231" y="13879792"/>
                </a:lnTo>
                <a:close/>
              </a:path>
              <a:path w="13970635" h="14707235">
                <a:moveTo>
                  <a:pt x="13970407" y="0"/>
                </a:moveTo>
                <a:lnTo>
                  <a:pt x="4506950" y="0"/>
                </a:lnTo>
                <a:lnTo>
                  <a:pt x="4506950" y="5635510"/>
                </a:lnTo>
                <a:lnTo>
                  <a:pt x="13970407" y="5635510"/>
                </a:lnTo>
                <a:lnTo>
                  <a:pt x="13970407" y="0"/>
                </a:lnTo>
                <a:close/>
              </a:path>
            </a:pathLst>
          </a:custGeom>
          <a:solidFill>
            <a:srgbClr val="FFFFFF"/>
          </a:solidFill>
        </p:spPr>
        <p:txBody>
          <a:bodyPr wrap="square" lIns="0" tIns="0" rIns="0" bIns="0" rtlCol="0"/>
          <a:lstStyle/>
          <a:p>
            <a:endParaRPr/>
          </a:p>
        </p:txBody>
      </p:sp>
      <p:sp>
        <p:nvSpPr>
          <p:cNvPr id="17" name="object 17"/>
          <p:cNvSpPr/>
          <p:nvPr/>
        </p:nvSpPr>
        <p:spPr>
          <a:xfrm>
            <a:off x="10890826" y="19059692"/>
            <a:ext cx="6878320" cy="931544"/>
          </a:xfrm>
          <a:custGeom>
            <a:avLst/>
            <a:gdLst/>
            <a:ahLst/>
            <a:cxnLst/>
            <a:rect l="l" t="t" r="r" b="b"/>
            <a:pathLst>
              <a:path w="6878320" h="931544">
                <a:moveTo>
                  <a:pt x="6878226" y="931475"/>
                </a:moveTo>
                <a:lnTo>
                  <a:pt x="0" y="931475"/>
                </a:lnTo>
                <a:lnTo>
                  <a:pt x="0" y="0"/>
                </a:lnTo>
                <a:lnTo>
                  <a:pt x="6878226" y="0"/>
                </a:lnTo>
                <a:lnTo>
                  <a:pt x="6878226" y="931475"/>
                </a:lnTo>
                <a:close/>
              </a:path>
            </a:pathLst>
          </a:custGeom>
          <a:solidFill>
            <a:srgbClr val="FFFFFF"/>
          </a:solidFill>
        </p:spPr>
        <p:txBody>
          <a:bodyPr wrap="square" lIns="0" tIns="0" rIns="0" bIns="0" rtlCol="0"/>
          <a:lstStyle/>
          <a:p>
            <a:endParaRPr lang="en-US" sz="1050" dirty="0">
              <a:latin typeface="Times New Roman" panose="02020603050405020304" pitchFamily="18" charset="0"/>
              <a:cs typeface="Times New Roman" panose="02020603050405020304" pitchFamily="18" charset="0"/>
            </a:endParaRPr>
          </a:p>
        </p:txBody>
      </p:sp>
      <p:sp>
        <p:nvSpPr>
          <p:cNvPr id="29" name="object 29"/>
          <p:cNvSpPr/>
          <p:nvPr/>
        </p:nvSpPr>
        <p:spPr>
          <a:xfrm>
            <a:off x="10940374" y="12558639"/>
            <a:ext cx="4214119" cy="4617957"/>
          </a:xfrm>
          <a:custGeom>
            <a:avLst/>
            <a:gdLst/>
            <a:ahLst/>
            <a:cxnLst/>
            <a:rect l="l" t="t" r="r" b="b"/>
            <a:pathLst>
              <a:path w="4344670" h="4784725">
                <a:moveTo>
                  <a:pt x="4344433" y="4784691"/>
                </a:moveTo>
                <a:lnTo>
                  <a:pt x="0" y="4784691"/>
                </a:lnTo>
                <a:lnTo>
                  <a:pt x="0" y="0"/>
                </a:lnTo>
                <a:lnTo>
                  <a:pt x="4344433" y="0"/>
                </a:lnTo>
                <a:lnTo>
                  <a:pt x="4344433" y="4784691"/>
                </a:lnTo>
                <a:close/>
              </a:path>
            </a:pathLst>
          </a:custGeom>
          <a:solidFill>
            <a:srgbClr val="FFFFFF"/>
          </a:solidFill>
        </p:spPr>
        <p:txBody>
          <a:bodyPr wrap="square" lIns="0" tIns="0" rIns="0" bIns="0" rtlCol="0"/>
          <a:lstStyle/>
          <a:p>
            <a:endParaRPr sz="1050" dirty="0">
              <a:latin typeface="+mj-lt"/>
            </a:endParaRPr>
          </a:p>
        </p:txBody>
      </p:sp>
      <p:sp>
        <p:nvSpPr>
          <p:cNvPr id="25" name="object 25"/>
          <p:cNvSpPr/>
          <p:nvPr/>
        </p:nvSpPr>
        <p:spPr>
          <a:xfrm>
            <a:off x="10942690" y="6868868"/>
            <a:ext cx="4277510" cy="5211291"/>
          </a:xfrm>
          <a:custGeom>
            <a:avLst/>
            <a:gdLst/>
            <a:ahLst/>
            <a:cxnLst/>
            <a:rect l="l" t="t" r="r" b="b"/>
            <a:pathLst>
              <a:path w="4344670" h="5262245">
                <a:moveTo>
                  <a:pt x="4344440" y="5261959"/>
                </a:moveTo>
                <a:lnTo>
                  <a:pt x="0" y="5261959"/>
                </a:lnTo>
                <a:lnTo>
                  <a:pt x="0" y="0"/>
                </a:lnTo>
                <a:lnTo>
                  <a:pt x="4344440" y="0"/>
                </a:lnTo>
                <a:lnTo>
                  <a:pt x="4344440" y="5261959"/>
                </a:lnTo>
                <a:close/>
              </a:path>
            </a:pathLst>
          </a:custGeom>
          <a:solidFill>
            <a:srgbClr val="FFFFFF"/>
          </a:solidFill>
        </p:spPr>
        <p:txBody>
          <a:bodyPr wrap="square" lIns="0" tIns="0" rIns="0" bIns="0" rtlCol="0"/>
          <a:lstStyle/>
          <a:p>
            <a:endParaRPr sz="1050">
              <a:latin typeface="+mj-lt"/>
            </a:endParaRPr>
          </a:p>
        </p:txBody>
      </p:sp>
      <p:sp>
        <p:nvSpPr>
          <p:cNvPr id="37" name="object 37"/>
          <p:cNvSpPr txBox="1"/>
          <p:nvPr/>
        </p:nvSpPr>
        <p:spPr>
          <a:xfrm>
            <a:off x="15822455" y="11925382"/>
            <a:ext cx="9018905" cy="3073277"/>
          </a:xfrm>
          <a:prstGeom prst="rect">
            <a:avLst/>
          </a:prstGeom>
        </p:spPr>
        <p:txBody>
          <a:bodyPr vert="horz" wrap="square" lIns="0" tIns="15875" rIns="0" bIns="0" rtlCol="0">
            <a:spAutoFit/>
          </a:bodyPr>
          <a:lstStyle/>
          <a:p>
            <a:pPr marL="4581525" algn="just">
              <a:spcBef>
                <a:spcPts val="125"/>
              </a:spcBef>
            </a:pPr>
            <a:endParaRPr lang="en-US" sz="1100" dirty="0"/>
          </a:p>
          <a:p>
            <a:pPr marL="4581525" algn="just">
              <a:spcBef>
                <a:spcPts val="125"/>
              </a:spcBef>
            </a:pPr>
            <a:endParaRPr lang="en-US" sz="1100" dirty="0"/>
          </a:p>
          <a:p>
            <a:pPr marL="4581525" algn="just">
              <a:spcBef>
                <a:spcPts val="125"/>
              </a:spcBef>
            </a:pPr>
            <a:endParaRPr lang="en-US" sz="1100" dirty="0"/>
          </a:p>
          <a:p>
            <a:pPr marL="4581525" algn="just">
              <a:spcBef>
                <a:spcPts val="125"/>
              </a:spcBef>
            </a:pPr>
            <a:endParaRPr lang="en-US" sz="1100" dirty="0"/>
          </a:p>
          <a:p>
            <a:pPr marL="4581525" algn="just">
              <a:spcBef>
                <a:spcPts val="125"/>
              </a:spcBef>
            </a:pPr>
            <a:endParaRPr lang="en-US" sz="1100" dirty="0"/>
          </a:p>
          <a:p>
            <a:pPr marL="4581525" algn="just">
              <a:spcBef>
                <a:spcPts val="125"/>
              </a:spcBef>
            </a:pPr>
            <a:endParaRPr lang="en-US" sz="1100" dirty="0"/>
          </a:p>
          <a:p>
            <a:pPr marL="4581525" algn="ctr">
              <a:spcBef>
                <a:spcPts val="125"/>
              </a:spcBef>
            </a:pPr>
            <a:r>
              <a:rPr lang="en-US" sz="1100" dirty="0"/>
              <a:t> </a:t>
            </a:r>
            <a:r>
              <a:rPr lang="en-US" sz="1100" i="1" dirty="0" err="1"/>
              <a:t>Bảng</a:t>
            </a:r>
            <a:r>
              <a:rPr lang="en-US" sz="1100" i="1" dirty="0"/>
              <a:t> 2: </a:t>
            </a:r>
            <a:r>
              <a:rPr lang="en-US" sz="1100" i="1" dirty="0" err="1"/>
              <a:t>Kiểm</a:t>
            </a:r>
            <a:r>
              <a:rPr lang="en-US" sz="1100" i="1" dirty="0"/>
              <a:t> </a:t>
            </a:r>
            <a:r>
              <a:rPr lang="en-US" sz="1100" i="1" dirty="0" err="1"/>
              <a:t>tra</a:t>
            </a:r>
            <a:r>
              <a:rPr lang="en-US" sz="1100" i="1" dirty="0"/>
              <a:t> </a:t>
            </a:r>
            <a:r>
              <a:rPr lang="en-US" sz="1100" i="1" dirty="0" err="1"/>
              <a:t>thí</a:t>
            </a:r>
            <a:r>
              <a:rPr lang="en-US" sz="1100" i="1" dirty="0"/>
              <a:t> </a:t>
            </a:r>
            <a:r>
              <a:rPr lang="en-US" sz="1100" i="1" dirty="0" err="1"/>
              <a:t>nghiệm</a:t>
            </a:r>
            <a:endParaRPr lang="en-US" sz="1100" i="1" dirty="0"/>
          </a:p>
          <a:p>
            <a:pPr marL="4581525" algn="just">
              <a:spcBef>
                <a:spcPts val="125"/>
              </a:spcBef>
            </a:pPr>
            <a:endParaRPr lang="en-US" sz="1100" dirty="0"/>
          </a:p>
          <a:p>
            <a:pPr marL="4581525" algn="just">
              <a:spcBef>
                <a:spcPts val="125"/>
              </a:spcBef>
            </a:pPr>
            <a:endParaRPr lang="en-US" sz="1100" dirty="0"/>
          </a:p>
          <a:p>
            <a:pPr marL="4581525" algn="just">
              <a:spcBef>
                <a:spcPts val="125"/>
              </a:spcBef>
            </a:pPr>
            <a:endParaRPr lang="en-US" sz="1100" dirty="0"/>
          </a:p>
          <a:p>
            <a:pPr marL="4581525" algn="just">
              <a:spcBef>
                <a:spcPts val="125"/>
              </a:spcBef>
            </a:pPr>
            <a:endParaRPr lang="en-US" sz="1100" dirty="0"/>
          </a:p>
          <a:p>
            <a:pPr marL="4581525" algn="just">
              <a:spcBef>
                <a:spcPts val="125"/>
              </a:spcBef>
            </a:pPr>
            <a:endParaRPr lang="en-US" sz="1100" dirty="0"/>
          </a:p>
          <a:p>
            <a:pPr marL="4581525" algn="just">
              <a:spcBef>
                <a:spcPts val="125"/>
              </a:spcBef>
            </a:pPr>
            <a:endParaRPr lang="en-US" sz="1100" dirty="0"/>
          </a:p>
          <a:p>
            <a:pPr marL="4581525" algn="just">
              <a:spcBef>
                <a:spcPts val="125"/>
              </a:spcBef>
            </a:pPr>
            <a:endParaRPr lang="en-US" sz="1100" dirty="0"/>
          </a:p>
          <a:p>
            <a:pPr marL="4581525" algn="just">
              <a:spcBef>
                <a:spcPts val="125"/>
              </a:spcBef>
            </a:pPr>
            <a:endParaRPr lang="en-US" sz="1100" dirty="0"/>
          </a:p>
          <a:p>
            <a:pPr marL="4581525" algn="ctr">
              <a:spcBef>
                <a:spcPts val="125"/>
              </a:spcBef>
            </a:pPr>
            <a:endParaRPr lang="en-US" sz="1100" dirty="0"/>
          </a:p>
          <a:p>
            <a:pPr marL="12700">
              <a:spcBef>
                <a:spcPts val="190"/>
              </a:spcBef>
            </a:pPr>
            <a:endParaRPr sz="850" dirty="0">
              <a:latin typeface="Times New Roman"/>
              <a:cs typeface="Times New Roman"/>
            </a:endParaRPr>
          </a:p>
        </p:txBody>
      </p:sp>
      <p:sp>
        <p:nvSpPr>
          <p:cNvPr id="48" name="object 48"/>
          <p:cNvSpPr txBox="1"/>
          <p:nvPr/>
        </p:nvSpPr>
        <p:spPr>
          <a:xfrm>
            <a:off x="11103287" y="500094"/>
            <a:ext cx="11848272" cy="1956305"/>
          </a:xfrm>
          <a:prstGeom prst="rect">
            <a:avLst/>
          </a:prstGeom>
        </p:spPr>
        <p:txBody>
          <a:bodyPr vert="horz" wrap="square" lIns="0" tIns="12065" rIns="0" bIns="0" rtlCol="0">
            <a:spAutoFit/>
          </a:bodyPr>
          <a:lstStyle/>
          <a:p>
            <a:pPr marL="12700">
              <a:spcBef>
                <a:spcPts val="1095"/>
              </a:spcBef>
            </a:pPr>
            <a:r>
              <a:rPr lang="en-US" sz="3600" dirty="0">
                <a:solidFill>
                  <a:schemeClr val="bg1"/>
                </a:solidFill>
                <a:latin typeface="Times New Roman" panose="02020603050405020304" pitchFamily="18" charset="0"/>
                <a:cs typeface="Times New Roman" panose="02020603050405020304" pitchFamily="18" charset="0"/>
              </a:rPr>
              <a:t>HỆ THỐNG GIÁM SÁT ONG MẬT THÔNG MINH ỨNG DỤNG CÔNG NGHỆ IOT VÀ TRÍ TUỆ NHÂN TẠO</a:t>
            </a:r>
          </a:p>
          <a:p>
            <a:pPr marL="12700">
              <a:spcBef>
                <a:spcPts val="1095"/>
              </a:spcBef>
            </a:pPr>
            <a:r>
              <a:rPr dirty="0">
                <a:solidFill>
                  <a:schemeClr val="bg1"/>
                </a:solidFill>
                <a:latin typeface="Times New Roman" panose="02020603050405020304" pitchFamily="18" charset="0"/>
                <a:cs typeface="Times New Roman" panose="02020603050405020304" pitchFamily="18" charset="0"/>
              </a:rPr>
              <a:t>SVTH: </a:t>
            </a:r>
            <a:r>
              <a:rPr lang="en-US" dirty="0">
                <a:solidFill>
                  <a:schemeClr val="bg1"/>
                </a:solidFill>
                <a:latin typeface="Times New Roman" panose="02020603050405020304" pitchFamily="18" charset="0"/>
                <a:cs typeface="Times New Roman" panose="02020603050405020304" pitchFamily="18" charset="0"/>
              </a:rPr>
              <a:t>Phan Nữ Kiều Hạnh, Đoàn Minh Hiếu, Nguyễn Minh Hoàng, Đỗ Lâm Khánh, Đặng Phan Khánh Hoàng</a:t>
            </a:r>
          </a:p>
          <a:p>
            <a:pPr marL="12700">
              <a:spcBef>
                <a:spcPts val="1095"/>
              </a:spcBef>
            </a:pPr>
            <a:r>
              <a:rPr dirty="0">
                <a:solidFill>
                  <a:schemeClr val="bg1"/>
                </a:solidFill>
                <a:latin typeface="Times New Roman" panose="02020603050405020304" pitchFamily="18" charset="0"/>
                <a:cs typeface="Times New Roman" panose="02020603050405020304" pitchFamily="18" charset="0"/>
              </a:rPr>
              <a:t>GVHD: TS. Nguyễn Thị Anh Thư</a:t>
            </a:r>
            <a:r>
              <a:rPr lang="en-US" dirty="0">
                <a:solidFill>
                  <a:schemeClr val="bg1"/>
                </a:solidFill>
                <a:latin typeface="Times New Roman" panose="02020603050405020304" pitchFamily="18" charset="0"/>
                <a:cs typeface="Times New Roman" panose="02020603050405020304" pitchFamily="18" charset="0"/>
              </a:rPr>
              <a:t> - </a:t>
            </a:r>
            <a:r>
              <a:rPr dirty="0">
                <a:solidFill>
                  <a:schemeClr val="bg1"/>
                </a:solidFill>
                <a:latin typeface="Times New Roman" panose="02020603050405020304" pitchFamily="18" charset="0"/>
                <a:cs typeface="Times New Roman" panose="02020603050405020304" pitchFamily="18" charset="0"/>
              </a:rPr>
              <a:t>Khoa </a:t>
            </a:r>
            <a:r>
              <a:rPr dirty="0" err="1">
                <a:solidFill>
                  <a:schemeClr val="bg1"/>
                </a:solidFill>
                <a:latin typeface="Times New Roman" panose="02020603050405020304" pitchFamily="18" charset="0"/>
                <a:cs typeface="Times New Roman" panose="02020603050405020304" pitchFamily="18" charset="0"/>
              </a:rPr>
              <a:t>Khoa</a:t>
            </a:r>
            <a:r>
              <a:rPr dirty="0">
                <a:solidFill>
                  <a:schemeClr val="bg1"/>
                </a:solidFill>
                <a:latin typeface="Times New Roman" panose="02020603050405020304" pitchFamily="18" charset="0"/>
                <a:cs typeface="Times New Roman" panose="02020603050405020304" pitchFamily="18" charset="0"/>
              </a:rPr>
              <a:t> </a:t>
            </a:r>
            <a:r>
              <a:rPr dirty="0" err="1">
                <a:solidFill>
                  <a:schemeClr val="bg1"/>
                </a:solidFill>
                <a:latin typeface="Times New Roman" panose="02020603050405020304" pitchFamily="18" charset="0"/>
                <a:cs typeface="Times New Roman" panose="02020603050405020304" pitchFamily="18" charset="0"/>
              </a:rPr>
              <a:t>học</a:t>
            </a:r>
            <a:r>
              <a:rPr dirty="0">
                <a:solidFill>
                  <a:schemeClr val="bg1"/>
                </a:solidFill>
                <a:latin typeface="Times New Roman" panose="02020603050405020304" pitchFamily="18" charset="0"/>
                <a:cs typeface="Times New Roman" panose="02020603050405020304" pitchFamily="18" charset="0"/>
              </a:rPr>
              <a:t> Công </a:t>
            </a:r>
            <a:r>
              <a:rPr dirty="0" err="1">
                <a:solidFill>
                  <a:schemeClr val="bg1"/>
                </a:solidFill>
                <a:latin typeface="Times New Roman" panose="02020603050405020304" pitchFamily="18" charset="0"/>
                <a:cs typeface="Times New Roman" panose="02020603050405020304" pitchFamily="18" charset="0"/>
              </a:rPr>
              <a:t>nghệ</a:t>
            </a:r>
            <a:r>
              <a:rPr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T</a:t>
            </a:r>
            <a:r>
              <a:rPr dirty="0">
                <a:solidFill>
                  <a:schemeClr val="bg1"/>
                </a:solidFill>
                <a:latin typeface="Times New Roman" panose="02020603050405020304" pitchFamily="18" charset="0"/>
                <a:cs typeface="Times New Roman" panose="02020603050405020304" pitchFamily="18" charset="0"/>
              </a:rPr>
              <a:t>iên </a:t>
            </a:r>
            <a:r>
              <a:rPr dirty="0" err="1">
                <a:solidFill>
                  <a:schemeClr val="bg1"/>
                </a:solidFill>
                <a:latin typeface="Times New Roman" panose="02020603050405020304" pitchFamily="18" charset="0"/>
                <a:cs typeface="Times New Roman" panose="02020603050405020304" pitchFamily="18" charset="0"/>
              </a:rPr>
              <a:t>tiến</a:t>
            </a:r>
            <a:r>
              <a:rPr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Trường </a:t>
            </a:r>
            <a:r>
              <a:rPr dirty="0" err="1">
                <a:solidFill>
                  <a:schemeClr val="bg1"/>
                </a:solidFill>
                <a:latin typeface="Times New Roman" panose="02020603050405020304" pitchFamily="18" charset="0"/>
                <a:cs typeface="Times New Roman" panose="02020603050405020304" pitchFamily="18" charset="0"/>
              </a:rPr>
              <a:t>Đại</a:t>
            </a:r>
            <a:r>
              <a:rPr dirty="0">
                <a:solidFill>
                  <a:schemeClr val="bg1"/>
                </a:solidFill>
                <a:latin typeface="Times New Roman" panose="02020603050405020304" pitchFamily="18" charset="0"/>
                <a:cs typeface="Times New Roman" panose="02020603050405020304" pitchFamily="18" charset="0"/>
              </a:rPr>
              <a:t> </a:t>
            </a:r>
            <a:r>
              <a:rPr dirty="0" err="1">
                <a:solidFill>
                  <a:schemeClr val="bg1"/>
                </a:solidFill>
                <a:latin typeface="Times New Roman" panose="02020603050405020304" pitchFamily="18" charset="0"/>
                <a:cs typeface="Times New Roman" panose="02020603050405020304" pitchFamily="18" charset="0"/>
              </a:rPr>
              <a:t>học</a:t>
            </a:r>
            <a:r>
              <a:rPr dirty="0">
                <a:solidFill>
                  <a:schemeClr val="bg1"/>
                </a:solidFill>
                <a:latin typeface="Times New Roman" panose="02020603050405020304" pitchFamily="18" charset="0"/>
                <a:cs typeface="Times New Roman" panose="02020603050405020304" pitchFamily="18" charset="0"/>
              </a:rPr>
              <a:t> </a:t>
            </a:r>
            <a:r>
              <a:rPr dirty="0" err="1">
                <a:solidFill>
                  <a:schemeClr val="bg1"/>
                </a:solidFill>
                <a:latin typeface="Times New Roman" panose="02020603050405020304" pitchFamily="18" charset="0"/>
                <a:cs typeface="Times New Roman" panose="02020603050405020304" pitchFamily="18" charset="0"/>
              </a:rPr>
              <a:t>Bách</a:t>
            </a:r>
            <a:r>
              <a:rPr dirty="0">
                <a:solidFill>
                  <a:schemeClr val="bg1"/>
                </a:solidFill>
                <a:latin typeface="Times New Roman" panose="02020603050405020304" pitchFamily="18" charset="0"/>
                <a:cs typeface="Times New Roman" panose="02020603050405020304" pitchFamily="18" charset="0"/>
              </a:rPr>
              <a:t> Khoa</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Đà</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Nẵng</a:t>
            </a:r>
            <a:endParaRPr dirty="0">
              <a:solidFill>
                <a:schemeClr val="bg1"/>
              </a:solidFill>
              <a:latin typeface="Times New Roman" panose="02020603050405020304" pitchFamily="18" charset="0"/>
              <a:cs typeface="Times New Roman" panose="02020603050405020304" pitchFamily="18" charset="0"/>
            </a:endParaRPr>
          </a:p>
        </p:txBody>
      </p:sp>
      <p:sp>
        <p:nvSpPr>
          <p:cNvPr id="49" name="object 49"/>
          <p:cNvSpPr txBox="1"/>
          <p:nvPr/>
        </p:nvSpPr>
        <p:spPr>
          <a:xfrm>
            <a:off x="10964763" y="6389863"/>
            <a:ext cx="3581399" cy="299441"/>
          </a:xfrm>
          <a:prstGeom prst="rect">
            <a:avLst/>
          </a:prstGeom>
        </p:spPr>
        <p:txBody>
          <a:bodyPr vert="horz" wrap="square" lIns="0" tIns="14605" rIns="0" bIns="0" rtlCol="0">
            <a:spAutoFit/>
          </a:bodyPr>
          <a:lstStyle/>
          <a:p>
            <a:pPr marL="12700" algn="ctr">
              <a:spcBef>
                <a:spcPts val="115"/>
              </a:spcBef>
            </a:pPr>
            <a:r>
              <a:rPr lang="en-US" sz="1850" b="1" dirty="0">
                <a:solidFill>
                  <a:schemeClr val="bg1"/>
                </a:solidFill>
                <a:latin typeface="Times New Roman"/>
                <a:cs typeface="Times New Roman"/>
              </a:rPr>
              <a:t>Phương </a:t>
            </a:r>
            <a:r>
              <a:rPr lang="en-US" sz="1850" b="1" dirty="0" err="1">
                <a:solidFill>
                  <a:schemeClr val="bg1"/>
                </a:solidFill>
                <a:latin typeface="Times New Roman"/>
                <a:cs typeface="Times New Roman"/>
              </a:rPr>
              <a:t>pháp</a:t>
            </a:r>
            <a:r>
              <a:rPr lang="en-US" sz="1850" b="1" dirty="0">
                <a:solidFill>
                  <a:schemeClr val="bg1"/>
                </a:solidFill>
                <a:latin typeface="Times New Roman"/>
                <a:cs typeface="Times New Roman"/>
              </a:rPr>
              <a:t> </a:t>
            </a:r>
            <a:r>
              <a:rPr lang="en-US" sz="1850" b="1" dirty="0" err="1">
                <a:solidFill>
                  <a:schemeClr val="bg1"/>
                </a:solidFill>
                <a:latin typeface="Times New Roman"/>
                <a:cs typeface="Times New Roman"/>
              </a:rPr>
              <a:t>nghiên</a:t>
            </a:r>
            <a:r>
              <a:rPr lang="en-US" sz="1850" b="1" dirty="0">
                <a:solidFill>
                  <a:schemeClr val="bg1"/>
                </a:solidFill>
                <a:latin typeface="Times New Roman"/>
                <a:cs typeface="Times New Roman"/>
              </a:rPr>
              <a:t> </a:t>
            </a:r>
            <a:r>
              <a:rPr lang="en-US" sz="1850" b="1" dirty="0" err="1">
                <a:solidFill>
                  <a:schemeClr val="bg1"/>
                </a:solidFill>
                <a:latin typeface="Times New Roman"/>
                <a:cs typeface="Times New Roman"/>
              </a:rPr>
              <a:t>cứu</a:t>
            </a:r>
            <a:endParaRPr sz="1850" b="1" dirty="0">
              <a:solidFill>
                <a:schemeClr val="bg1"/>
              </a:solidFill>
              <a:latin typeface="Times New Roman"/>
              <a:cs typeface="Times New Roman"/>
            </a:endParaRPr>
          </a:p>
        </p:txBody>
      </p:sp>
      <p:sp>
        <p:nvSpPr>
          <p:cNvPr id="50" name="object 50"/>
          <p:cNvSpPr/>
          <p:nvPr/>
        </p:nvSpPr>
        <p:spPr>
          <a:xfrm>
            <a:off x="10892588" y="12109453"/>
            <a:ext cx="4344670" cy="428625"/>
          </a:xfrm>
          <a:custGeom>
            <a:avLst/>
            <a:gdLst/>
            <a:ahLst/>
            <a:cxnLst/>
            <a:rect l="l" t="t" r="r" b="b"/>
            <a:pathLst>
              <a:path w="4344670" h="428625">
                <a:moveTo>
                  <a:pt x="4344440" y="428100"/>
                </a:moveTo>
                <a:lnTo>
                  <a:pt x="0" y="428100"/>
                </a:lnTo>
                <a:lnTo>
                  <a:pt x="0" y="0"/>
                </a:lnTo>
                <a:lnTo>
                  <a:pt x="4344440" y="0"/>
                </a:lnTo>
                <a:lnTo>
                  <a:pt x="4344440" y="428100"/>
                </a:lnTo>
                <a:close/>
              </a:path>
            </a:pathLst>
          </a:custGeom>
          <a:solidFill>
            <a:srgbClr val="7B131A"/>
          </a:solidFill>
        </p:spPr>
        <p:txBody>
          <a:bodyPr wrap="square" lIns="0" tIns="0" rIns="0" bIns="0" rtlCol="0"/>
          <a:lstStyle/>
          <a:p>
            <a:endParaRPr/>
          </a:p>
        </p:txBody>
      </p:sp>
      <p:sp>
        <p:nvSpPr>
          <p:cNvPr id="51" name="object 51"/>
          <p:cNvSpPr txBox="1"/>
          <p:nvPr/>
        </p:nvSpPr>
        <p:spPr>
          <a:xfrm>
            <a:off x="11792183" y="12102309"/>
            <a:ext cx="2753979" cy="337913"/>
          </a:xfrm>
          <a:prstGeom prst="rect">
            <a:avLst/>
          </a:prstGeom>
        </p:spPr>
        <p:txBody>
          <a:bodyPr vert="horz" wrap="square" lIns="0" tIns="14605" rIns="0" bIns="0" rtlCol="0">
            <a:spAutoFit/>
          </a:bodyPr>
          <a:lstStyle/>
          <a:p>
            <a:pPr marL="12700" algn="ctr">
              <a:spcBef>
                <a:spcPts val="115"/>
              </a:spcBef>
            </a:pPr>
            <a:r>
              <a:rPr lang="en-US" sz="2100" dirty="0" err="1">
                <a:solidFill>
                  <a:schemeClr val="bg1"/>
                </a:solidFill>
                <a:latin typeface="Times New Roman"/>
                <a:cs typeface="Times New Roman"/>
              </a:rPr>
              <a:t>Giải</a:t>
            </a:r>
            <a:r>
              <a:rPr lang="en-US" sz="2100" dirty="0">
                <a:solidFill>
                  <a:schemeClr val="bg1"/>
                </a:solidFill>
                <a:latin typeface="Times New Roman"/>
                <a:cs typeface="Times New Roman"/>
              </a:rPr>
              <a:t> </a:t>
            </a:r>
            <a:r>
              <a:rPr lang="en-US" sz="2100" dirty="0" err="1">
                <a:solidFill>
                  <a:schemeClr val="bg1"/>
                </a:solidFill>
                <a:latin typeface="Times New Roman"/>
                <a:cs typeface="Times New Roman"/>
              </a:rPr>
              <a:t>pháp</a:t>
            </a:r>
            <a:r>
              <a:rPr lang="en-US" sz="2100" dirty="0">
                <a:solidFill>
                  <a:schemeClr val="bg1"/>
                </a:solidFill>
                <a:latin typeface="Times New Roman"/>
                <a:cs typeface="Times New Roman"/>
              </a:rPr>
              <a:t> </a:t>
            </a:r>
            <a:r>
              <a:rPr lang="en-US" sz="2100" dirty="0" err="1">
                <a:solidFill>
                  <a:schemeClr val="bg1"/>
                </a:solidFill>
                <a:latin typeface="Times New Roman"/>
                <a:cs typeface="Times New Roman"/>
              </a:rPr>
              <a:t>kĩ</a:t>
            </a:r>
            <a:r>
              <a:rPr lang="en-US" sz="2100" dirty="0">
                <a:solidFill>
                  <a:schemeClr val="bg1"/>
                </a:solidFill>
                <a:latin typeface="Times New Roman"/>
                <a:cs typeface="Times New Roman"/>
              </a:rPr>
              <a:t> </a:t>
            </a:r>
            <a:r>
              <a:rPr lang="en-US" sz="2100" dirty="0" err="1">
                <a:solidFill>
                  <a:schemeClr val="bg1"/>
                </a:solidFill>
                <a:latin typeface="Times New Roman"/>
                <a:cs typeface="Times New Roman"/>
              </a:rPr>
              <a:t>thuật</a:t>
            </a:r>
            <a:endParaRPr sz="2100" dirty="0">
              <a:solidFill>
                <a:schemeClr val="bg1"/>
              </a:solidFill>
              <a:latin typeface="Times New Roman"/>
              <a:cs typeface="Times New Roman"/>
            </a:endParaRPr>
          </a:p>
        </p:txBody>
      </p:sp>
      <p:sp>
        <p:nvSpPr>
          <p:cNvPr id="52" name="object 52"/>
          <p:cNvSpPr/>
          <p:nvPr/>
        </p:nvSpPr>
        <p:spPr>
          <a:xfrm>
            <a:off x="10892612" y="17378349"/>
            <a:ext cx="6878320" cy="347345"/>
          </a:xfrm>
          <a:custGeom>
            <a:avLst/>
            <a:gdLst/>
            <a:ahLst/>
            <a:cxnLst/>
            <a:rect l="l" t="t" r="r" b="b"/>
            <a:pathLst>
              <a:path w="6878320" h="347344">
                <a:moveTo>
                  <a:pt x="6878226" y="347188"/>
                </a:moveTo>
                <a:lnTo>
                  <a:pt x="0" y="347188"/>
                </a:lnTo>
                <a:lnTo>
                  <a:pt x="0" y="0"/>
                </a:lnTo>
                <a:lnTo>
                  <a:pt x="6878226" y="0"/>
                </a:lnTo>
                <a:lnTo>
                  <a:pt x="6878226" y="347188"/>
                </a:lnTo>
                <a:close/>
              </a:path>
            </a:pathLst>
          </a:custGeom>
          <a:solidFill>
            <a:srgbClr val="7B131A"/>
          </a:solidFill>
        </p:spPr>
        <p:txBody>
          <a:bodyPr wrap="square" lIns="0" tIns="0" rIns="0" bIns="0" rtlCol="0"/>
          <a:lstStyle/>
          <a:p>
            <a:endParaRPr/>
          </a:p>
        </p:txBody>
      </p:sp>
      <p:sp>
        <p:nvSpPr>
          <p:cNvPr id="53" name="object 53"/>
          <p:cNvSpPr txBox="1"/>
          <p:nvPr/>
        </p:nvSpPr>
        <p:spPr>
          <a:xfrm>
            <a:off x="13319503" y="17367380"/>
            <a:ext cx="2025014" cy="347980"/>
          </a:xfrm>
          <a:prstGeom prst="rect">
            <a:avLst/>
          </a:prstGeom>
        </p:spPr>
        <p:txBody>
          <a:bodyPr vert="horz" wrap="square" lIns="0" tIns="14605" rIns="0" bIns="0" rtlCol="0">
            <a:spAutoFit/>
          </a:bodyPr>
          <a:lstStyle/>
          <a:p>
            <a:pPr marL="12700">
              <a:spcBef>
                <a:spcPts val="115"/>
              </a:spcBef>
            </a:pPr>
            <a:r>
              <a:rPr lang="en-US" sz="2100" b="1">
                <a:solidFill>
                  <a:schemeClr val="bg1"/>
                </a:solidFill>
                <a:latin typeface="Times New Roman"/>
                <a:cs typeface="Times New Roman"/>
              </a:rPr>
              <a:t>Lời </a:t>
            </a:r>
            <a:r>
              <a:rPr lang="en-US" sz="2100" b="1" err="1">
                <a:solidFill>
                  <a:schemeClr val="bg1"/>
                </a:solidFill>
                <a:latin typeface="Times New Roman"/>
                <a:cs typeface="Times New Roman"/>
              </a:rPr>
              <a:t>cảm</a:t>
            </a:r>
            <a:r>
              <a:rPr lang="en-US" sz="2100" b="1">
                <a:solidFill>
                  <a:schemeClr val="bg1"/>
                </a:solidFill>
                <a:latin typeface="Times New Roman"/>
                <a:cs typeface="Times New Roman"/>
              </a:rPr>
              <a:t> </a:t>
            </a:r>
            <a:r>
              <a:rPr lang="en-US" sz="2100" b="1" err="1">
                <a:solidFill>
                  <a:schemeClr val="bg1"/>
                </a:solidFill>
                <a:latin typeface="Times New Roman"/>
                <a:cs typeface="Times New Roman"/>
              </a:rPr>
              <a:t>ơn</a:t>
            </a:r>
            <a:endParaRPr sz="2100" b="1">
              <a:solidFill>
                <a:schemeClr val="bg1"/>
              </a:solidFill>
              <a:latin typeface="Times New Roman"/>
              <a:cs typeface="Times New Roman"/>
            </a:endParaRPr>
          </a:p>
        </p:txBody>
      </p:sp>
      <p:sp>
        <p:nvSpPr>
          <p:cNvPr id="54" name="object 54"/>
          <p:cNvSpPr/>
          <p:nvPr/>
        </p:nvSpPr>
        <p:spPr>
          <a:xfrm>
            <a:off x="10890826" y="18657966"/>
            <a:ext cx="6878320" cy="347345"/>
          </a:xfrm>
          <a:custGeom>
            <a:avLst/>
            <a:gdLst/>
            <a:ahLst/>
            <a:cxnLst/>
            <a:rect l="l" t="t" r="r" b="b"/>
            <a:pathLst>
              <a:path w="6878320" h="347344">
                <a:moveTo>
                  <a:pt x="6878226" y="347188"/>
                </a:moveTo>
                <a:lnTo>
                  <a:pt x="0" y="347188"/>
                </a:lnTo>
                <a:lnTo>
                  <a:pt x="0" y="0"/>
                </a:lnTo>
                <a:lnTo>
                  <a:pt x="6878226" y="0"/>
                </a:lnTo>
                <a:lnTo>
                  <a:pt x="6878226" y="347188"/>
                </a:lnTo>
                <a:close/>
              </a:path>
            </a:pathLst>
          </a:custGeom>
          <a:solidFill>
            <a:srgbClr val="7B131A"/>
          </a:solidFill>
        </p:spPr>
        <p:txBody>
          <a:bodyPr wrap="square" lIns="0" tIns="0" rIns="0" bIns="0" rtlCol="0"/>
          <a:lstStyle/>
          <a:p>
            <a:endParaRPr/>
          </a:p>
        </p:txBody>
      </p:sp>
      <p:sp>
        <p:nvSpPr>
          <p:cNvPr id="55" name="object 55"/>
          <p:cNvSpPr txBox="1"/>
          <p:nvPr/>
        </p:nvSpPr>
        <p:spPr>
          <a:xfrm>
            <a:off x="13131941" y="18616487"/>
            <a:ext cx="2576782" cy="337913"/>
          </a:xfrm>
          <a:prstGeom prst="rect">
            <a:avLst/>
          </a:prstGeom>
        </p:spPr>
        <p:txBody>
          <a:bodyPr vert="horz" wrap="square" lIns="0" tIns="14605" rIns="0" bIns="0" rtlCol="0">
            <a:spAutoFit/>
          </a:bodyPr>
          <a:lstStyle/>
          <a:p>
            <a:pPr marL="12700">
              <a:spcBef>
                <a:spcPts val="115"/>
              </a:spcBef>
            </a:pPr>
            <a:r>
              <a:rPr lang="en-US" sz="2100" b="1">
                <a:solidFill>
                  <a:schemeClr val="bg1"/>
                </a:solidFill>
                <a:latin typeface="Times New Roman"/>
                <a:cs typeface="Times New Roman"/>
              </a:rPr>
              <a:t>Tài </a:t>
            </a:r>
            <a:r>
              <a:rPr lang="en-US" sz="2100" b="1" err="1">
                <a:solidFill>
                  <a:schemeClr val="bg1"/>
                </a:solidFill>
                <a:latin typeface="Times New Roman"/>
                <a:cs typeface="Times New Roman"/>
              </a:rPr>
              <a:t>liệu</a:t>
            </a:r>
            <a:r>
              <a:rPr lang="en-US" sz="2100" b="1">
                <a:solidFill>
                  <a:schemeClr val="bg1"/>
                </a:solidFill>
                <a:latin typeface="Times New Roman"/>
                <a:cs typeface="Times New Roman"/>
              </a:rPr>
              <a:t> </a:t>
            </a:r>
            <a:r>
              <a:rPr lang="en-US" sz="2100" b="1" err="1">
                <a:solidFill>
                  <a:schemeClr val="bg1"/>
                </a:solidFill>
                <a:latin typeface="Times New Roman"/>
                <a:cs typeface="Times New Roman"/>
              </a:rPr>
              <a:t>tham</a:t>
            </a:r>
            <a:r>
              <a:rPr lang="en-US" sz="2100" b="1">
                <a:solidFill>
                  <a:schemeClr val="bg1"/>
                </a:solidFill>
                <a:latin typeface="Times New Roman"/>
                <a:cs typeface="Times New Roman"/>
              </a:rPr>
              <a:t> </a:t>
            </a:r>
            <a:r>
              <a:rPr lang="en-US" sz="2100" b="1" err="1">
                <a:solidFill>
                  <a:schemeClr val="bg1"/>
                </a:solidFill>
                <a:latin typeface="Times New Roman"/>
                <a:cs typeface="Times New Roman"/>
              </a:rPr>
              <a:t>khảo</a:t>
            </a:r>
            <a:endParaRPr sz="2100" b="1">
              <a:solidFill>
                <a:schemeClr val="bg1"/>
              </a:solidFill>
              <a:latin typeface="Times New Roman"/>
              <a:cs typeface="Times New Roman"/>
            </a:endParaRPr>
          </a:p>
        </p:txBody>
      </p:sp>
      <p:sp>
        <p:nvSpPr>
          <p:cNvPr id="56" name="object 56"/>
          <p:cNvSpPr txBox="1"/>
          <p:nvPr/>
        </p:nvSpPr>
        <p:spPr>
          <a:xfrm>
            <a:off x="15397772" y="9657757"/>
            <a:ext cx="9464040" cy="367408"/>
          </a:xfrm>
          <a:prstGeom prst="rect">
            <a:avLst/>
          </a:prstGeom>
          <a:solidFill>
            <a:srgbClr val="7B131A"/>
          </a:solidFill>
        </p:spPr>
        <p:txBody>
          <a:bodyPr vert="horz" wrap="square" lIns="0" tIns="43815" rIns="0" bIns="0" rtlCol="0">
            <a:spAutoFit/>
          </a:bodyPr>
          <a:lstStyle/>
          <a:p>
            <a:pPr algn="ctr">
              <a:spcBef>
                <a:spcPts val="345"/>
              </a:spcBef>
            </a:pPr>
            <a:r>
              <a:rPr lang="en-US" sz="2100" b="1" dirty="0" err="1">
                <a:solidFill>
                  <a:schemeClr val="bg1"/>
                </a:solidFill>
                <a:latin typeface="Times New Roman"/>
                <a:cs typeface="Times New Roman"/>
              </a:rPr>
              <a:t>Thí</a:t>
            </a:r>
            <a:r>
              <a:rPr lang="en-US" sz="2100" b="1" dirty="0">
                <a:solidFill>
                  <a:schemeClr val="bg1"/>
                </a:solidFill>
                <a:latin typeface="Times New Roman"/>
                <a:cs typeface="Times New Roman"/>
              </a:rPr>
              <a:t> </a:t>
            </a:r>
            <a:r>
              <a:rPr lang="en-US" sz="2100" b="1" dirty="0" err="1">
                <a:solidFill>
                  <a:schemeClr val="bg1"/>
                </a:solidFill>
                <a:latin typeface="Times New Roman"/>
                <a:cs typeface="Times New Roman"/>
              </a:rPr>
              <a:t>nghiệm</a:t>
            </a:r>
            <a:r>
              <a:rPr lang="en-US" sz="2100" b="1" dirty="0">
                <a:solidFill>
                  <a:schemeClr val="bg1"/>
                </a:solidFill>
                <a:latin typeface="Times New Roman"/>
                <a:cs typeface="Times New Roman"/>
              </a:rPr>
              <a:t> </a:t>
            </a:r>
            <a:r>
              <a:rPr lang="en-US" sz="2100" b="1" dirty="0" err="1">
                <a:solidFill>
                  <a:schemeClr val="bg1"/>
                </a:solidFill>
                <a:latin typeface="Times New Roman"/>
                <a:cs typeface="Times New Roman"/>
              </a:rPr>
              <a:t>và</a:t>
            </a:r>
            <a:r>
              <a:rPr lang="en-US" sz="2100" b="1" dirty="0">
                <a:solidFill>
                  <a:schemeClr val="bg1"/>
                </a:solidFill>
                <a:latin typeface="Times New Roman"/>
                <a:cs typeface="Times New Roman"/>
              </a:rPr>
              <a:t> </a:t>
            </a:r>
            <a:r>
              <a:rPr lang="en-US" sz="2100" b="1" dirty="0" err="1">
                <a:solidFill>
                  <a:schemeClr val="bg1"/>
                </a:solidFill>
                <a:latin typeface="Times New Roman"/>
                <a:cs typeface="Times New Roman"/>
              </a:rPr>
              <a:t>kết</a:t>
            </a:r>
            <a:r>
              <a:rPr lang="en-US" sz="2100" b="1" dirty="0">
                <a:solidFill>
                  <a:schemeClr val="bg1"/>
                </a:solidFill>
                <a:latin typeface="Times New Roman"/>
                <a:cs typeface="Times New Roman"/>
              </a:rPr>
              <a:t> </a:t>
            </a:r>
            <a:r>
              <a:rPr lang="en-US" sz="2100" b="1" dirty="0" err="1">
                <a:solidFill>
                  <a:schemeClr val="bg1"/>
                </a:solidFill>
                <a:latin typeface="Times New Roman"/>
                <a:cs typeface="Times New Roman"/>
              </a:rPr>
              <a:t>quả</a:t>
            </a:r>
            <a:endParaRPr sz="2100" b="1" dirty="0">
              <a:solidFill>
                <a:schemeClr val="bg1"/>
              </a:solidFill>
              <a:latin typeface="Times New Roman"/>
              <a:cs typeface="Times New Roman"/>
            </a:endParaRPr>
          </a:p>
        </p:txBody>
      </p:sp>
      <p:sp>
        <p:nvSpPr>
          <p:cNvPr id="57" name="object 57"/>
          <p:cNvSpPr/>
          <p:nvPr/>
        </p:nvSpPr>
        <p:spPr>
          <a:xfrm>
            <a:off x="18006118" y="17378349"/>
            <a:ext cx="6855459" cy="347345"/>
          </a:xfrm>
          <a:custGeom>
            <a:avLst/>
            <a:gdLst/>
            <a:ahLst/>
            <a:cxnLst/>
            <a:rect l="l" t="t" r="r" b="b"/>
            <a:pathLst>
              <a:path w="6855459" h="347344">
                <a:moveTo>
                  <a:pt x="6855391" y="347188"/>
                </a:moveTo>
                <a:lnTo>
                  <a:pt x="0" y="347188"/>
                </a:lnTo>
                <a:lnTo>
                  <a:pt x="0" y="0"/>
                </a:lnTo>
                <a:lnTo>
                  <a:pt x="6855391" y="0"/>
                </a:lnTo>
                <a:lnTo>
                  <a:pt x="6855391" y="347188"/>
                </a:lnTo>
                <a:close/>
              </a:path>
            </a:pathLst>
          </a:custGeom>
          <a:solidFill>
            <a:srgbClr val="7B131A"/>
          </a:solidFill>
        </p:spPr>
        <p:txBody>
          <a:bodyPr wrap="square" lIns="0" tIns="0" rIns="0" bIns="0" rtlCol="0"/>
          <a:lstStyle/>
          <a:p>
            <a:endParaRPr/>
          </a:p>
        </p:txBody>
      </p:sp>
      <p:sp>
        <p:nvSpPr>
          <p:cNvPr id="58" name="object 58"/>
          <p:cNvSpPr txBox="1"/>
          <p:nvPr/>
        </p:nvSpPr>
        <p:spPr>
          <a:xfrm>
            <a:off x="19743575" y="17367380"/>
            <a:ext cx="3378835" cy="347980"/>
          </a:xfrm>
          <a:prstGeom prst="rect">
            <a:avLst/>
          </a:prstGeom>
        </p:spPr>
        <p:txBody>
          <a:bodyPr vert="horz" wrap="square" lIns="0" tIns="14605" rIns="0" bIns="0" rtlCol="0">
            <a:spAutoFit/>
          </a:bodyPr>
          <a:lstStyle/>
          <a:p>
            <a:pPr marL="12700">
              <a:spcBef>
                <a:spcPts val="115"/>
              </a:spcBef>
            </a:pPr>
            <a:r>
              <a:rPr lang="en-US" sz="2100" err="1">
                <a:solidFill>
                  <a:schemeClr val="bg1"/>
                </a:solidFill>
                <a:latin typeface="Times New Roman"/>
                <a:cs typeface="Times New Roman"/>
              </a:rPr>
              <a:t>Kết</a:t>
            </a:r>
            <a:r>
              <a:rPr lang="en-US" sz="2100">
                <a:solidFill>
                  <a:schemeClr val="bg1"/>
                </a:solidFill>
                <a:latin typeface="Times New Roman"/>
                <a:cs typeface="Times New Roman"/>
              </a:rPr>
              <a:t> </a:t>
            </a:r>
            <a:r>
              <a:rPr lang="en-US" sz="2100" err="1">
                <a:solidFill>
                  <a:schemeClr val="bg1"/>
                </a:solidFill>
                <a:latin typeface="Times New Roman"/>
                <a:cs typeface="Times New Roman"/>
              </a:rPr>
              <a:t>luận</a:t>
            </a:r>
            <a:r>
              <a:rPr lang="en-US" sz="2100">
                <a:solidFill>
                  <a:schemeClr val="bg1"/>
                </a:solidFill>
                <a:latin typeface="Times New Roman"/>
                <a:cs typeface="Times New Roman"/>
              </a:rPr>
              <a:t> </a:t>
            </a:r>
            <a:r>
              <a:rPr lang="en-US" sz="2100" err="1">
                <a:solidFill>
                  <a:schemeClr val="bg1"/>
                </a:solidFill>
                <a:latin typeface="Times New Roman"/>
                <a:cs typeface="Times New Roman"/>
              </a:rPr>
              <a:t>và</a:t>
            </a:r>
            <a:r>
              <a:rPr lang="en-US" sz="2100">
                <a:solidFill>
                  <a:schemeClr val="bg1"/>
                </a:solidFill>
                <a:latin typeface="Times New Roman"/>
                <a:cs typeface="Times New Roman"/>
              </a:rPr>
              <a:t> </a:t>
            </a:r>
            <a:r>
              <a:rPr lang="en-US" sz="2100" err="1">
                <a:solidFill>
                  <a:schemeClr val="bg1"/>
                </a:solidFill>
                <a:latin typeface="Times New Roman"/>
                <a:cs typeface="Times New Roman"/>
              </a:rPr>
              <a:t>hướng</a:t>
            </a:r>
            <a:r>
              <a:rPr lang="en-US" sz="2100">
                <a:solidFill>
                  <a:schemeClr val="bg1"/>
                </a:solidFill>
                <a:latin typeface="Times New Roman"/>
                <a:cs typeface="Times New Roman"/>
              </a:rPr>
              <a:t> </a:t>
            </a:r>
            <a:r>
              <a:rPr lang="en-US" sz="2100" err="1">
                <a:solidFill>
                  <a:schemeClr val="bg1"/>
                </a:solidFill>
                <a:latin typeface="Times New Roman"/>
                <a:cs typeface="Times New Roman"/>
              </a:rPr>
              <a:t>phát</a:t>
            </a:r>
            <a:r>
              <a:rPr lang="en-US" sz="2100">
                <a:solidFill>
                  <a:schemeClr val="bg1"/>
                </a:solidFill>
                <a:latin typeface="Times New Roman"/>
                <a:cs typeface="Times New Roman"/>
              </a:rPr>
              <a:t> </a:t>
            </a:r>
            <a:r>
              <a:rPr lang="en-US" sz="2100" err="1">
                <a:solidFill>
                  <a:schemeClr val="bg1"/>
                </a:solidFill>
                <a:latin typeface="Times New Roman"/>
                <a:cs typeface="Times New Roman"/>
              </a:rPr>
              <a:t>triển</a:t>
            </a:r>
            <a:endParaRPr sz="2100">
              <a:solidFill>
                <a:schemeClr val="bg1"/>
              </a:solidFill>
              <a:latin typeface="Times New Roman"/>
              <a:cs typeface="Times New Roman"/>
            </a:endParaRPr>
          </a:p>
        </p:txBody>
      </p:sp>
      <p:sp>
        <p:nvSpPr>
          <p:cNvPr id="64" name="object 12">
            <a:extLst>
              <a:ext uri="{FF2B5EF4-FFF2-40B4-BE49-F238E27FC236}">
                <a16:creationId xmlns:a16="http://schemas.microsoft.com/office/drawing/2014/main" id="{EC88BB3C-8CF0-1D56-88F7-D270F2B5A643}"/>
              </a:ext>
            </a:extLst>
          </p:cNvPr>
          <p:cNvSpPr/>
          <p:nvPr/>
        </p:nvSpPr>
        <p:spPr>
          <a:xfrm>
            <a:off x="20244886" y="13168627"/>
            <a:ext cx="4639609" cy="2214880"/>
          </a:xfrm>
          <a:custGeom>
            <a:avLst/>
            <a:gdLst/>
            <a:ahLst/>
            <a:cxnLst/>
            <a:rect l="l" t="t" r="r" b="b"/>
            <a:pathLst>
              <a:path w="6847840" h="2214880">
                <a:moveTo>
                  <a:pt x="6847638" y="2214367"/>
                </a:moveTo>
                <a:lnTo>
                  <a:pt x="0" y="2214367"/>
                </a:lnTo>
                <a:lnTo>
                  <a:pt x="0" y="0"/>
                </a:lnTo>
                <a:lnTo>
                  <a:pt x="6847638" y="0"/>
                </a:lnTo>
                <a:lnTo>
                  <a:pt x="6847638" y="2214367"/>
                </a:lnTo>
                <a:close/>
              </a:path>
            </a:pathLst>
          </a:custGeom>
          <a:solidFill>
            <a:srgbClr val="FFFFFF"/>
          </a:solidFill>
        </p:spPr>
        <p:txBody>
          <a:bodyPr wrap="square" lIns="0" tIns="0" rIns="0" bIns="0" rtlCol="0"/>
          <a:lstStyle/>
          <a:p>
            <a:r>
              <a:rPr lang="en-US" sz="1200" dirty="0" err="1">
                <a:solidFill>
                  <a:srgbClr val="C00000"/>
                </a:solidFill>
                <a:latin typeface="Times New Roman" panose="02020603050405020304" pitchFamily="18" charset="0"/>
                <a:cs typeface="Times New Roman" panose="02020603050405020304" pitchFamily="18" charset="0"/>
              </a:rPr>
              <a:t>Đánh</a:t>
            </a:r>
            <a:r>
              <a:rPr lang="en-US" sz="1200" dirty="0">
                <a:solidFill>
                  <a:srgbClr val="C00000"/>
                </a:solidFill>
                <a:latin typeface="Times New Roman" panose="02020603050405020304" pitchFamily="18" charset="0"/>
                <a:cs typeface="Times New Roman" panose="02020603050405020304" pitchFamily="18" charset="0"/>
              </a:rPr>
              <a:t> </a:t>
            </a:r>
            <a:r>
              <a:rPr lang="en-US" sz="1200" dirty="0" err="1">
                <a:solidFill>
                  <a:srgbClr val="C00000"/>
                </a:solidFill>
                <a:latin typeface="Times New Roman" panose="02020603050405020304" pitchFamily="18" charset="0"/>
                <a:cs typeface="Times New Roman" panose="02020603050405020304" pitchFamily="18" charset="0"/>
              </a:rPr>
              <a:t>giá</a:t>
            </a:r>
            <a:r>
              <a:rPr lang="en-US" sz="1200" dirty="0">
                <a:solidFill>
                  <a:srgbClr val="C00000"/>
                </a:solidFill>
                <a:latin typeface="Times New Roman" panose="02020603050405020304" pitchFamily="18" charset="0"/>
                <a:cs typeface="Times New Roman" panose="02020603050405020304" pitchFamily="18" charset="0"/>
              </a:rPr>
              <a:t> </a:t>
            </a:r>
            <a:r>
              <a:rPr lang="en-US" sz="1200" dirty="0" err="1">
                <a:solidFill>
                  <a:srgbClr val="C00000"/>
                </a:solidFill>
                <a:latin typeface="Times New Roman" panose="02020603050405020304" pitchFamily="18" charset="0"/>
                <a:cs typeface="Times New Roman" panose="02020603050405020304" pitchFamily="18" charset="0"/>
              </a:rPr>
              <a:t>tổng</a:t>
            </a:r>
            <a:r>
              <a:rPr lang="en-US" sz="1200" dirty="0">
                <a:solidFill>
                  <a:srgbClr val="C00000"/>
                </a:solidFill>
                <a:latin typeface="Times New Roman" panose="02020603050405020304" pitchFamily="18" charset="0"/>
                <a:cs typeface="Times New Roman" panose="02020603050405020304" pitchFamily="18" charset="0"/>
              </a:rPr>
              <a:t> </a:t>
            </a:r>
            <a:r>
              <a:rPr lang="en-US" sz="1200" dirty="0" err="1">
                <a:solidFill>
                  <a:srgbClr val="C00000"/>
                </a:solidFill>
                <a:latin typeface="Times New Roman" panose="02020603050405020304" pitchFamily="18" charset="0"/>
                <a:cs typeface="Times New Roman" panose="02020603050405020304" pitchFamily="18" charset="0"/>
              </a:rPr>
              <a:t>quát</a:t>
            </a:r>
            <a:endParaRPr lang="en-US" altLang="en-US" sz="2800" dirty="0">
              <a:solidFill>
                <a:schemeClr val="tx1"/>
              </a:solidFill>
              <a:latin typeface="Arial" panose="020B0604020202020204" pitchFamily="34" charset="0"/>
            </a:endParaRPr>
          </a:p>
          <a:p>
            <a:pPr algn="l" rtl="0" eaLnBrk="0" fontAlgn="base" hangingPunct="0">
              <a:spcBef>
                <a:spcPct val="0"/>
              </a:spcBef>
              <a:spcAft>
                <a:spcPct val="0"/>
              </a:spcAft>
            </a:pP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Độ</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chính</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xác</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cảm</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biến</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Cảm</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biến</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SHT30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hoạt</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động</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ổn</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định</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với</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sai</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số</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nhiệt</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độ</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thấp</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đạt</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tiêu</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chuẩn</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±0.3°C),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đảm</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bảo</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theo</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dõi</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vi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khí</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hậu</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tổ</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ong</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hiệu</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quả</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Hệ</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thống</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cân</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với</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4 loadcell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giúp</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phân</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bổ</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lực</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đều</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chịu</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tải</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tốt</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lên</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đến</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35kg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mà</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không</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gây</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biến</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dạng</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khung</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cơ</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khí</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a:t>
            </a:r>
          </a:p>
          <a:p>
            <a:pPr algn="l" rtl="0" eaLnBrk="0" fontAlgn="base" hangingPunct="0">
              <a:spcBef>
                <a:spcPct val="0"/>
              </a:spcBef>
              <a:spcAft>
                <a:spcPct val="0"/>
              </a:spcAft>
            </a:pP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Hạ</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tầng</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IoT: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Đảm</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bảo</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dữ</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liệu</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được</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đồng</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bộ</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lên</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Firebase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và</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hiển</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thị</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trên</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Dashboard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với</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độ</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trễ</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thấp</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a:t>
            </a:r>
          </a:p>
          <a:p>
            <a:pPr algn="l" rtl="0" eaLnBrk="0" fontAlgn="base" hangingPunct="0">
              <a:spcBef>
                <a:spcPct val="0"/>
              </a:spcBef>
              <a:spcAft>
                <a:spcPct val="0"/>
              </a:spcAft>
            </a:pPr>
            <a:endParaRPr lang="en-US" alt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rgbClr val="C00000"/>
              </a:solidFill>
              <a:latin typeface="Times New Roman" panose="02020603050405020304" pitchFamily="18" charset="0"/>
              <a:cs typeface="Times New Roman" panose="02020603050405020304" pitchFamily="18" charset="0"/>
            </a:endParaRPr>
          </a:p>
          <a:p>
            <a:endParaRPr lang="en-US" sz="1200" dirty="0">
              <a:solidFill>
                <a:srgbClr val="C00000"/>
              </a:solidFill>
              <a:latin typeface="Times New Roman" panose="02020603050405020304" pitchFamily="18" charset="0"/>
              <a:cs typeface="Times New Roman" panose="02020603050405020304" pitchFamily="18" charset="0"/>
            </a:endParaRPr>
          </a:p>
          <a:p>
            <a:endParaRPr sz="1200" dirty="0">
              <a:solidFill>
                <a:srgbClr val="C00000"/>
              </a:solidFill>
              <a:latin typeface="Times New Roman" panose="02020603050405020304" pitchFamily="18" charset="0"/>
              <a:cs typeface="Times New Roman" panose="02020603050405020304" pitchFamily="18" charset="0"/>
            </a:endParaRPr>
          </a:p>
        </p:txBody>
      </p:sp>
      <p:sp>
        <p:nvSpPr>
          <p:cNvPr id="65" name="Rectangle 1">
            <a:extLst>
              <a:ext uri="{FF2B5EF4-FFF2-40B4-BE49-F238E27FC236}">
                <a16:creationId xmlns:a16="http://schemas.microsoft.com/office/drawing/2014/main" id="{2466513E-C665-604E-6C6B-37299A124598}"/>
              </a:ext>
            </a:extLst>
          </p:cNvPr>
          <p:cNvSpPr>
            <a:spLocks noChangeArrowheads="1"/>
          </p:cNvSpPr>
          <p:nvPr/>
        </p:nvSpPr>
        <p:spPr bwMode="auto">
          <a:xfrm>
            <a:off x="13140168" y="-497105"/>
            <a:ext cx="4239999" cy="5747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rtl="0" eaLnBrk="0" fontAlgn="base" hangingPunct="0">
              <a:spcBef>
                <a:spcPct val="0"/>
              </a:spcBef>
              <a:spcAft>
                <a:spcPct val="0"/>
              </a:spcAft>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p:txBody>
      </p:sp>
      <p:sp>
        <p:nvSpPr>
          <p:cNvPr id="69" name="Rectangle 5">
            <a:extLst>
              <a:ext uri="{FF2B5EF4-FFF2-40B4-BE49-F238E27FC236}">
                <a16:creationId xmlns:a16="http://schemas.microsoft.com/office/drawing/2014/main" id="{CA7EB06E-A397-0256-A9BF-75CE41F0E322}"/>
              </a:ext>
            </a:extLst>
          </p:cNvPr>
          <p:cNvSpPr>
            <a:spLocks noChangeArrowheads="1"/>
          </p:cNvSpPr>
          <p:nvPr/>
        </p:nvSpPr>
        <p:spPr bwMode="auto">
          <a:xfrm>
            <a:off x="10816694" y="5257142"/>
            <a:ext cx="251992"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l" rtl="0" eaLnBrk="0" fontAlgn="base" hangingPunct="0">
              <a:spcBef>
                <a:spcPct val="0"/>
              </a:spcBef>
              <a:spcAft>
                <a:spcPct val="0"/>
              </a:spcAft>
            </a:pPr>
            <a:endParaRPr lang="en-US" altLang="en-US">
              <a:solidFill>
                <a:schemeClr val="tx1"/>
              </a:solidFill>
              <a:latin typeface="Arial" panose="020B0604020202020204" pitchFamily="34" charset="0"/>
            </a:endParaRPr>
          </a:p>
          <a:p>
            <a:pPr algn="l" rtl="0" eaLnBrk="0" fontAlgn="base" hangingPunct="0">
              <a:spcBef>
                <a:spcPct val="0"/>
              </a:spcBef>
              <a:spcAft>
                <a:spcPct val="0"/>
              </a:spcAft>
            </a:pPr>
            <a:r>
              <a:rPr lang="en-US" altLang="en-US" sz="1050">
                <a:solidFill>
                  <a:schemeClr val="tx1"/>
                </a:solidFill>
                <a:latin typeface="Times New Roman" panose="02020603050405020304" pitchFamily="18" charset="0"/>
                <a:cs typeface="Times New Roman" panose="02020603050405020304" pitchFamily="18" charset="0"/>
              </a:rPr>
              <a:t>. </a:t>
            </a:r>
          </a:p>
        </p:txBody>
      </p:sp>
      <p:pic>
        <p:nvPicPr>
          <p:cNvPr id="1031" name="Picture 7" descr="Trường Đại học Bách khoa - Đại học Đà Nẵng &gt; Tintuc &gt; Tintuc">
            <a:extLst>
              <a:ext uri="{FF2B5EF4-FFF2-40B4-BE49-F238E27FC236}">
                <a16:creationId xmlns:a16="http://schemas.microsoft.com/office/drawing/2014/main" id="{4FDAD6ED-081D-87FB-177E-26E6E25393F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140850" y="559536"/>
            <a:ext cx="1273561" cy="1273561"/>
          </a:xfrm>
          <a:prstGeom prst="rect">
            <a:avLst/>
          </a:prstGeom>
          <a:noFill/>
          <a:extLst>
            <a:ext uri="{909E8E84-426E-40DD-AFC4-6F175D3DCCD1}">
              <a14:hiddenFill xmlns:a14="http://schemas.microsoft.com/office/drawing/2010/main">
                <a:solidFill>
                  <a:srgbClr val="FFFFFF"/>
                </a:solidFill>
              </a14:hiddenFill>
            </a:ext>
          </a:extLst>
        </p:spPr>
      </p:pic>
      <p:sp>
        <p:nvSpPr>
          <p:cNvPr id="85" name="TextBox 84">
            <a:extLst>
              <a:ext uri="{FF2B5EF4-FFF2-40B4-BE49-F238E27FC236}">
                <a16:creationId xmlns:a16="http://schemas.microsoft.com/office/drawing/2014/main" id="{68CF1AEE-2AE1-D9DD-FB25-E19E065E8FEA}"/>
              </a:ext>
            </a:extLst>
          </p:cNvPr>
          <p:cNvSpPr txBox="1"/>
          <p:nvPr/>
        </p:nvSpPr>
        <p:spPr>
          <a:xfrm>
            <a:off x="10872416" y="17751154"/>
            <a:ext cx="6847840" cy="830997"/>
          </a:xfrm>
          <a:prstGeom prst="rect">
            <a:avLst/>
          </a:prstGeom>
          <a:noFill/>
        </p:spPr>
        <p:txBody>
          <a:bodyPr wrap="square" rtlCol="0">
            <a:spAutoFit/>
          </a:bodyPr>
          <a:lstStyle/>
          <a:p>
            <a:pPr algn="just"/>
            <a:r>
              <a:rPr lang="vi-VN" sz="1200" dirty="0">
                <a:latin typeface="+mj-lt"/>
              </a:rPr>
              <a:t>Nhóm tác giả xin chân thành cảm ơn TS. Nguyễn Thị Anh Thư đã tận tình hướng dẫn, hỗ trợ và đóng góp ý kiến trong suốt quá trình thực hiện đề tài. Đồng thời, nhóm cũng xin cảm ơn Khoa Khoa học Công nghệ Tiên tiến – Đại học Bách Khoa đã tạo điều kiện thuận lợi về cơ sở vật chất và môi trường nghiên cứu để nhóm hoàn thành dự án.</a:t>
            </a:r>
            <a:endParaRPr lang="en-US" sz="1200" dirty="0">
              <a:latin typeface="+mj-lt"/>
            </a:endParaRPr>
          </a:p>
        </p:txBody>
      </p:sp>
      <p:pic>
        <p:nvPicPr>
          <p:cNvPr id="31" name="Picture 30">
            <a:extLst>
              <a:ext uri="{FF2B5EF4-FFF2-40B4-BE49-F238E27FC236}">
                <a16:creationId xmlns:a16="http://schemas.microsoft.com/office/drawing/2014/main" id="{4208E703-2FD2-F50D-3ADA-E63E5BE7CC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434273" y="4015812"/>
            <a:ext cx="9391043" cy="5282462"/>
          </a:xfrm>
          <a:prstGeom prst="rect">
            <a:avLst/>
          </a:prstGeom>
        </p:spPr>
      </p:pic>
      <p:sp>
        <p:nvSpPr>
          <p:cNvPr id="14" name="TextBox 13">
            <a:extLst>
              <a:ext uri="{FF2B5EF4-FFF2-40B4-BE49-F238E27FC236}">
                <a16:creationId xmlns:a16="http://schemas.microsoft.com/office/drawing/2014/main" id="{6F37511A-A0A9-8506-8863-A39A2F10207F}"/>
              </a:ext>
            </a:extLst>
          </p:cNvPr>
          <p:cNvSpPr txBox="1"/>
          <p:nvPr/>
        </p:nvSpPr>
        <p:spPr>
          <a:xfrm>
            <a:off x="10934273" y="3922611"/>
            <a:ext cx="4197777" cy="2492990"/>
          </a:xfrm>
          <a:prstGeom prst="rect">
            <a:avLst/>
          </a:prstGeom>
          <a:noFill/>
        </p:spPr>
        <p:txBody>
          <a:bodyPr wrap="square" rtlCol="0">
            <a:spAutoFit/>
          </a:bodyPr>
          <a:lstStyle/>
          <a:p>
            <a:pPr marL="55563" algn="just" defTabSz="301625" rtl="0" fontAlgn="base">
              <a:tabLst>
                <a:tab pos="2286000" algn="l"/>
              </a:tabLst>
            </a:pPr>
            <a:r>
              <a:rPr lang="vi-VN" sz="1200" b="1" i="1" dirty="0">
                <a:solidFill>
                  <a:srgbClr val="C00000"/>
                </a:solidFill>
                <a:latin typeface="+mj-lt"/>
              </a:rPr>
              <a:t>Thực trạng hiện tại: </a:t>
            </a:r>
            <a:r>
              <a:rPr lang="vi-VN" sz="1200" dirty="0">
                <a:latin typeface="+mj-lt"/>
              </a:rPr>
              <a:t>Việt Nam có khoảng 1,5 triệu đàn ong với hơn 34.000 hộ nuôi, đóng góp quan trọng cho xuất khẩu nông sản. Tuy nhiên, ngành ong đang đối mặt với biến đổi khí hậu và thuốc trừ sâu khiến quần thể suy giảm mạnh (đến 71%).</a:t>
            </a:r>
          </a:p>
          <a:p>
            <a:pPr marL="55563" algn="just" defTabSz="301625" rtl="0" fontAlgn="base">
              <a:tabLst>
                <a:tab pos="2286000" algn="l"/>
              </a:tabLst>
            </a:pPr>
            <a:r>
              <a:rPr lang="vi-VN" sz="1200" b="1" i="1" dirty="0">
                <a:solidFill>
                  <a:srgbClr val="C00000"/>
                </a:solidFill>
                <a:latin typeface="+mj-lt"/>
              </a:rPr>
              <a:t>Khó khăn &amp; Hạn chế: </a:t>
            </a:r>
            <a:r>
              <a:rPr lang="vi-VN" sz="1200" dirty="0">
                <a:latin typeface="+mj-lt"/>
              </a:rPr>
              <a:t>Việc quản lý hiện nay chủ yếu dựa trên kinh nghiệm truyền thống, thiếu công cụ giám sát hiện đại. Các giải pháp quốc tế (BroodMinder, BeeHero) có giá thành rất cao (7,5 – 13,7 triệu VNĐ), không phù hợp với hộ nuôi nhỏ lẻ tại Việt Nam.</a:t>
            </a:r>
            <a:r>
              <a:rPr lang="en-US" sz="1200" b="1" dirty="0">
                <a:latin typeface="Times New Roman" panose="02020603050405020304" pitchFamily="18" charset="0"/>
                <a:cs typeface="Times New Roman" panose="02020603050405020304" pitchFamily="18" charset="0"/>
              </a:rPr>
              <a:t> </a:t>
            </a:r>
          </a:p>
          <a:p>
            <a:pPr marL="55563" algn="just" defTabSz="301625" rtl="0" fontAlgn="base">
              <a:tabLst>
                <a:tab pos="2286000" algn="l"/>
              </a:tabLst>
            </a:pPr>
            <a:r>
              <a:rPr lang="en-US" sz="1200" b="1" dirty="0" err="1">
                <a:solidFill>
                  <a:srgbClr val="C00000"/>
                </a:solidFill>
                <a:latin typeface="Times New Roman" panose="02020603050405020304" pitchFamily="18" charset="0"/>
                <a:cs typeface="Times New Roman" panose="02020603050405020304" pitchFamily="18" charset="0"/>
              </a:rPr>
              <a:t>Mục</a:t>
            </a:r>
            <a:r>
              <a:rPr lang="en-US" sz="1200" b="1" dirty="0">
                <a:solidFill>
                  <a:srgbClr val="C00000"/>
                </a:solidFill>
                <a:latin typeface="Times New Roman" panose="02020603050405020304" pitchFamily="18" charset="0"/>
                <a:cs typeface="Times New Roman" panose="02020603050405020304" pitchFamily="18" charset="0"/>
              </a:rPr>
              <a:t> </a:t>
            </a:r>
            <a:r>
              <a:rPr lang="en-US" sz="1200" b="1" dirty="0" err="1">
                <a:solidFill>
                  <a:srgbClr val="C00000"/>
                </a:solidFill>
                <a:latin typeface="Times New Roman" panose="02020603050405020304" pitchFamily="18" charset="0"/>
                <a:cs typeface="Times New Roman" panose="02020603050405020304" pitchFamily="18" charset="0"/>
              </a:rPr>
              <a:t>tiêu</a:t>
            </a:r>
            <a:r>
              <a:rPr lang="en-US" sz="1200" b="1" dirty="0">
                <a:solidFill>
                  <a:srgbClr val="C00000"/>
                </a:solidFill>
                <a:latin typeface="Times New Roman" panose="02020603050405020304" pitchFamily="18" charset="0"/>
                <a:cs typeface="Times New Roman" panose="02020603050405020304" pitchFamily="18" charset="0"/>
              </a:rPr>
              <a:t>:</a:t>
            </a:r>
            <a:r>
              <a:rPr lang="en-US" sz="1200" dirty="0">
                <a:solidFill>
                  <a:srgbClr val="C00000"/>
                </a:solidFill>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Xây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hệ</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thống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giám</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sát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thông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số</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giúp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theo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dõi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sức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khỏe</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đàn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giảm</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thiểu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(chia </a:t>
            </a:r>
            <a:r>
              <a:rPr lang="en-US" sz="1200" dirty="0" err="1">
                <a:latin typeface="Times New Roman" panose="02020603050405020304" pitchFamily="18" charset="0"/>
                <a:cs typeface="Times New Roman" panose="02020603050405020304" pitchFamily="18" charset="0"/>
              </a:rPr>
              <a:t>đàn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bỏ</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tổ</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nâng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cao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năng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suất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mật</a:t>
            </a:r>
            <a:r>
              <a:rPr lang="en-US" sz="1200" dirty="0">
                <a:latin typeface="Times New Roman" panose="02020603050405020304" pitchFamily="18" charset="0"/>
                <a:cs typeface="Times New Roman" panose="02020603050405020304" pitchFamily="18" charset="0"/>
              </a:rPr>
              <a:t>.</a:t>
            </a:r>
          </a:p>
          <a:p>
            <a:pPr marL="55563" algn="just" defTabSz="301625" rtl="0" fontAlgn="base">
              <a:tabLst>
                <a:tab pos="2286000" algn="l"/>
              </a:tabLst>
            </a:pPr>
            <a:endParaRPr lang="en-US" sz="1200" dirty="0">
              <a:latin typeface="+mj-lt"/>
            </a:endParaRPr>
          </a:p>
        </p:txBody>
      </p:sp>
      <p:sp>
        <p:nvSpPr>
          <p:cNvPr id="5" name="AutoShape 2" descr="Sơ đồ phân lớp cơ khí, phần cứng, phần mềm">
            <a:extLst>
              <a:ext uri="{FF2B5EF4-FFF2-40B4-BE49-F238E27FC236}">
                <a16:creationId xmlns:a16="http://schemas.microsoft.com/office/drawing/2014/main" id="{203EE924-00B0-9601-6844-CD134EA85BF4}"/>
              </a:ext>
            </a:extLst>
          </p:cNvPr>
          <p:cNvSpPr>
            <a:spLocks noChangeAspect="1" noChangeArrowheads="1"/>
          </p:cNvSpPr>
          <p:nvPr/>
        </p:nvSpPr>
        <p:spPr bwMode="auto">
          <a:xfrm>
            <a:off x="17718087" y="98996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9" name="Picture 18">
            <a:extLst>
              <a:ext uri="{FF2B5EF4-FFF2-40B4-BE49-F238E27FC236}">
                <a16:creationId xmlns:a16="http://schemas.microsoft.com/office/drawing/2014/main" id="{F0FE045B-48FC-BA45-C0F2-3E423DC0C62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942693" y="14090653"/>
            <a:ext cx="4177117" cy="2784745"/>
          </a:xfrm>
          <a:prstGeom prst="rect">
            <a:avLst/>
          </a:prstGeom>
        </p:spPr>
      </p:pic>
      <p:pic>
        <p:nvPicPr>
          <p:cNvPr id="21" name="Picture 20">
            <a:extLst>
              <a:ext uri="{FF2B5EF4-FFF2-40B4-BE49-F238E27FC236}">
                <a16:creationId xmlns:a16="http://schemas.microsoft.com/office/drawing/2014/main" id="{E6BD8D10-00B2-D6D5-F1CC-B82B3D1DB77F}"/>
              </a:ext>
            </a:extLst>
          </p:cNvPr>
          <p:cNvPicPr>
            <a:picLocks noChangeAspect="1"/>
          </p:cNvPicPr>
          <p:nvPr/>
        </p:nvPicPr>
        <p:blipFill>
          <a:blip r:embed="rId7"/>
          <a:stretch>
            <a:fillRect/>
          </a:stretch>
        </p:blipFill>
        <p:spPr>
          <a:xfrm>
            <a:off x="11084649" y="8401552"/>
            <a:ext cx="3890238" cy="3403101"/>
          </a:xfrm>
          <a:prstGeom prst="rect">
            <a:avLst/>
          </a:prstGeom>
        </p:spPr>
      </p:pic>
      <p:sp>
        <p:nvSpPr>
          <p:cNvPr id="22" name="TextBox 21">
            <a:extLst>
              <a:ext uri="{FF2B5EF4-FFF2-40B4-BE49-F238E27FC236}">
                <a16:creationId xmlns:a16="http://schemas.microsoft.com/office/drawing/2014/main" id="{BD21E01E-F2A9-9E67-B9D0-3FF0444871BA}"/>
              </a:ext>
            </a:extLst>
          </p:cNvPr>
          <p:cNvSpPr txBox="1"/>
          <p:nvPr/>
        </p:nvSpPr>
        <p:spPr>
          <a:xfrm>
            <a:off x="10934270" y="12552289"/>
            <a:ext cx="4270488" cy="4708981"/>
          </a:xfrm>
          <a:prstGeom prst="rect">
            <a:avLst/>
          </a:prstGeom>
          <a:noFill/>
        </p:spPr>
        <p:txBody>
          <a:bodyPr wrap="square" rtlCol="0">
            <a:spAutoFit/>
          </a:bodyPr>
          <a:lstStyle/>
          <a:p>
            <a:pPr marL="171450" indent="-171450">
              <a:buFont typeface="Arial" panose="020B0604020202020204" pitchFamily="34" charset="0"/>
              <a:buChar char="•"/>
            </a:pPr>
            <a:r>
              <a:rPr lang="vi-VN" sz="1200" dirty="0">
                <a:latin typeface="+mj-lt"/>
              </a:rPr>
              <a:t>Giải pháp kỹ thuật được xây dựng theo mô hình kiến trúc 3 lớp gồm Cơ khí, Phần cứng và Phần mềm nhằm đảm bảo khả năng giám sát tổ ong ổn định và theo thời gian thực. </a:t>
            </a:r>
            <a:endParaRPr lang="en-US" sz="1200" dirty="0">
              <a:latin typeface="+mj-lt"/>
            </a:endParaRPr>
          </a:p>
          <a:p>
            <a:pPr marL="171450" indent="-171450">
              <a:buFont typeface="Arial" panose="020B0604020202020204" pitchFamily="34" charset="0"/>
              <a:buChar char="•"/>
            </a:pPr>
            <a:r>
              <a:rPr lang="vi-VN" sz="1200" dirty="0">
                <a:latin typeface="+mj-lt"/>
              </a:rPr>
              <a:t>Hệ thống tích hợp đế cân thông minh, ESP32-S3 cùng các cảm biến đa thông số và kết nối 4G để thu thập – truyền dữ liệu liên tục. </a:t>
            </a:r>
            <a:endParaRPr lang="en-US" sz="1200" dirty="0">
              <a:latin typeface="+mj-lt"/>
            </a:endParaRPr>
          </a:p>
          <a:p>
            <a:pPr marL="171450" indent="-171450">
              <a:buFont typeface="Arial" panose="020B0604020202020204" pitchFamily="34" charset="0"/>
              <a:buChar char="•"/>
            </a:pPr>
            <a:r>
              <a:rPr lang="vi-VN" sz="1200" dirty="0">
                <a:latin typeface="+mj-lt"/>
              </a:rPr>
              <a:t>Dữ liệu được xử lý và hiển thị trên nền tảng Web/Mobile, hỗ trợ giám sát, truy xuất nguồn gốc và cảnh báo bất thường.</a:t>
            </a:r>
            <a:endParaRPr lang="en-US" sz="1200" dirty="0">
              <a:latin typeface="+mj-lt"/>
            </a:endParaRPr>
          </a:p>
          <a:p>
            <a:pPr marL="171450" indent="-171450">
              <a:buFont typeface="Arial" panose="020B0604020202020204" pitchFamily="34" charset="0"/>
              <a:buChar char="•"/>
            </a:pPr>
            <a:endParaRPr lang="en-US" sz="1200" dirty="0">
              <a:latin typeface="+mj-lt"/>
            </a:endParaRPr>
          </a:p>
          <a:p>
            <a:pPr marL="171450" indent="-171450">
              <a:buFont typeface="Arial" panose="020B0604020202020204" pitchFamily="34" charset="0"/>
              <a:buChar char="•"/>
            </a:pPr>
            <a:endParaRPr lang="en-US" sz="1200" dirty="0">
              <a:latin typeface="+mj-lt"/>
            </a:endParaRPr>
          </a:p>
          <a:p>
            <a:pPr marL="171450" indent="-171450">
              <a:buFont typeface="Arial" panose="020B0604020202020204" pitchFamily="34" charset="0"/>
              <a:buChar char="•"/>
            </a:pPr>
            <a:endParaRPr lang="en-US" sz="1200" dirty="0">
              <a:latin typeface="+mj-lt"/>
            </a:endParaRPr>
          </a:p>
          <a:p>
            <a:pPr marL="171450" indent="-171450">
              <a:buFont typeface="Arial" panose="020B0604020202020204" pitchFamily="34" charset="0"/>
              <a:buChar char="•"/>
            </a:pPr>
            <a:endParaRPr lang="en-US" sz="1200" dirty="0">
              <a:latin typeface="+mj-lt"/>
            </a:endParaRPr>
          </a:p>
          <a:p>
            <a:pPr marL="171450" indent="-171450">
              <a:buFont typeface="Arial" panose="020B0604020202020204" pitchFamily="34" charset="0"/>
              <a:buChar char="•"/>
            </a:pPr>
            <a:endParaRPr lang="en-US" sz="1200" dirty="0">
              <a:latin typeface="+mj-lt"/>
            </a:endParaRPr>
          </a:p>
          <a:p>
            <a:pPr marL="171450" indent="-171450">
              <a:buFont typeface="Arial" panose="020B0604020202020204" pitchFamily="34" charset="0"/>
              <a:buChar char="•"/>
            </a:pPr>
            <a:endParaRPr lang="en-US" sz="1200" dirty="0">
              <a:latin typeface="+mj-lt"/>
            </a:endParaRPr>
          </a:p>
          <a:p>
            <a:pPr marL="171450" indent="-171450">
              <a:buFont typeface="Arial" panose="020B0604020202020204" pitchFamily="34" charset="0"/>
              <a:buChar char="•"/>
            </a:pPr>
            <a:endParaRPr lang="en-US" sz="1200" dirty="0">
              <a:latin typeface="+mj-lt"/>
            </a:endParaRPr>
          </a:p>
          <a:p>
            <a:pPr marL="171450" indent="-171450">
              <a:buFont typeface="Arial" panose="020B0604020202020204" pitchFamily="34" charset="0"/>
              <a:buChar char="•"/>
            </a:pPr>
            <a:endParaRPr lang="en-US" sz="1200" dirty="0">
              <a:latin typeface="+mj-lt"/>
            </a:endParaRPr>
          </a:p>
          <a:p>
            <a:pPr marL="171450" indent="-171450">
              <a:buFont typeface="Arial" panose="020B0604020202020204" pitchFamily="34" charset="0"/>
              <a:buChar char="•"/>
            </a:pPr>
            <a:endParaRPr lang="en-US" sz="1200" dirty="0">
              <a:latin typeface="+mj-lt"/>
            </a:endParaRPr>
          </a:p>
          <a:p>
            <a:pPr marL="171450" indent="-171450">
              <a:buFont typeface="Arial" panose="020B0604020202020204" pitchFamily="34" charset="0"/>
              <a:buChar char="•"/>
            </a:pPr>
            <a:endParaRPr lang="en-US" sz="1200" dirty="0">
              <a:latin typeface="+mj-lt"/>
            </a:endParaRPr>
          </a:p>
          <a:p>
            <a:pPr marL="171450" indent="-171450">
              <a:buFont typeface="Arial" panose="020B0604020202020204" pitchFamily="34" charset="0"/>
              <a:buChar char="•"/>
            </a:pPr>
            <a:endParaRPr lang="en-US" sz="1200" dirty="0">
              <a:latin typeface="+mj-lt"/>
            </a:endParaRPr>
          </a:p>
          <a:p>
            <a:pPr marL="171450" indent="-171450">
              <a:buFont typeface="Arial" panose="020B0604020202020204" pitchFamily="34" charset="0"/>
              <a:buChar char="•"/>
            </a:pPr>
            <a:endParaRPr lang="en-US" sz="1200" dirty="0">
              <a:latin typeface="+mj-lt"/>
            </a:endParaRPr>
          </a:p>
          <a:p>
            <a:pPr marL="171450" indent="-171450">
              <a:buFont typeface="Arial" panose="020B0604020202020204" pitchFamily="34" charset="0"/>
              <a:buChar char="•"/>
            </a:pPr>
            <a:endParaRPr lang="en-US" sz="1200" dirty="0">
              <a:latin typeface="+mj-lt"/>
            </a:endParaRPr>
          </a:p>
          <a:p>
            <a:pPr marL="171450" indent="-171450">
              <a:buFont typeface="Arial" panose="020B0604020202020204" pitchFamily="34" charset="0"/>
              <a:buChar char="•"/>
            </a:pPr>
            <a:endParaRPr lang="en-US" sz="1200" dirty="0">
              <a:latin typeface="+mj-lt"/>
            </a:endParaRPr>
          </a:p>
          <a:p>
            <a:pPr marL="171450" indent="-171450">
              <a:buFont typeface="Arial" panose="020B0604020202020204" pitchFamily="34" charset="0"/>
              <a:buChar char="•"/>
            </a:pPr>
            <a:endParaRPr lang="en-US" sz="1200" dirty="0">
              <a:latin typeface="+mj-lt"/>
            </a:endParaRPr>
          </a:p>
          <a:p>
            <a:pPr algn="ctr"/>
            <a:r>
              <a:rPr lang="en-US" sz="1200" i="1" dirty="0" err="1">
                <a:solidFill>
                  <a:schemeClr val="tx1"/>
                </a:solidFill>
                <a:latin typeface="Times New Roman" panose="02020603050405020304" pitchFamily="18" charset="0"/>
                <a:cs typeface="Times New Roman" panose="02020603050405020304" pitchFamily="18" charset="0"/>
              </a:rPr>
              <a:t>Hình</a:t>
            </a:r>
            <a:r>
              <a:rPr lang="en-US" sz="1200" i="1" dirty="0">
                <a:solidFill>
                  <a:schemeClr val="tx1"/>
                </a:solidFill>
                <a:latin typeface="Times New Roman" panose="02020603050405020304" pitchFamily="18" charset="0"/>
                <a:cs typeface="Times New Roman" panose="02020603050405020304" pitchFamily="18" charset="0"/>
              </a:rPr>
              <a:t> 1: </a:t>
            </a:r>
            <a:r>
              <a:rPr lang="en-US" sz="1200" i="1" dirty="0" err="1">
                <a:solidFill>
                  <a:schemeClr val="tx1"/>
                </a:solidFill>
                <a:latin typeface="Times New Roman" panose="02020603050405020304" pitchFamily="18" charset="0"/>
                <a:cs typeface="Times New Roman" panose="02020603050405020304" pitchFamily="18" charset="0"/>
              </a:rPr>
              <a:t>Cấu</a:t>
            </a:r>
            <a:r>
              <a:rPr lang="en-US" sz="1200" i="1" dirty="0">
                <a:solidFill>
                  <a:schemeClr val="tx1"/>
                </a:solidFill>
                <a:latin typeface="Times New Roman" panose="02020603050405020304" pitchFamily="18" charset="0"/>
                <a:cs typeface="Times New Roman" panose="02020603050405020304" pitchFamily="18" charset="0"/>
              </a:rPr>
              <a:t> </a:t>
            </a:r>
            <a:r>
              <a:rPr lang="en-US" sz="1200" i="1" dirty="0" err="1">
                <a:solidFill>
                  <a:schemeClr val="tx1"/>
                </a:solidFill>
                <a:latin typeface="Times New Roman" panose="02020603050405020304" pitchFamily="18" charset="0"/>
                <a:cs typeface="Times New Roman" panose="02020603050405020304" pitchFamily="18" charset="0"/>
              </a:rPr>
              <a:t>trúc</a:t>
            </a:r>
            <a:r>
              <a:rPr lang="en-US" sz="1200" i="1" dirty="0">
                <a:solidFill>
                  <a:schemeClr val="tx1"/>
                </a:solidFill>
                <a:latin typeface="Times New Roman" panose="02020603050405020304" pitchFamily="18" charset="0"/>
                <a:cs typeface="Times New Roman" panose="02020603050405020304" pitchFamily="18" charset="0"/>
              </a:rPr>
              <a:t> </a:t>
            </a:r>
            <a:r>
              <a:rPr lang="en-US" sz="1200" i="1" dirty="0" err="1">
                <a:solidFill>
                  <a:schemeClr val="tx1"/>
                </a:solidFill>
                <a:latin typeface="Times New Roman" panose="02020603050405020304" pitchFamily="18" charset="0"/>
                <a:cs typeface="Times New Roman" panose="02020603050405020304" pitchFamily="18" charset="0"/>
              </a:rPr>
              <a:t>ba</a:t>
            </a:r>
            <a:r>
              <a:rPr lang="en-US" sz="1200" i="1" dirty="0">
                <a:solidFill>
                  <a:schemeClr val="tx1"/>
                </a:solidFill>
                <a:latin typeface="Times New Roman" panose="02020603050405020304" pitchFamily="18" charset="0"/>
                <a:cs typeface="Times New Roman" panose="02020603050405020304" pitchFamily="18" charset="0"/>
              </a:rPr>
              <a:t> </a:t>
            </a:r>
            <a:r>
              <a:rPr lang="en-US" sz="1200" i="1" dirty="0" err="1">
                <a:solidFill>
                  <a:schemeClr val="tx1"/>
                </a:solidFill>
                <a:latin typeface="Times New Roman" panose="02020603050405020304" pitchFamily="18" charset="0"/>
                <a:cs typeface="Times New Roman" panose="02020603050405020304" pitchFamily="18" charset="0"/>
              </a:rPr>
              <a:t>lớp</a:t>
            </a:r>
            <a:endParaRPr lang="vi-VN" sz="1200" i="1" dirty="0">
              <a:solidFill>
                <a:schemeClr val="tx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1200" dirty="0">
              <a:latin typeface="+mj-lt"/>
            </a:endParaRPr>
          </a:p>
        </p:txBody>
      </p:sp>
      <p:sp>
        <p:nvSpPr>
          <p:cNvPr id="23" name="TextBox 22">
            <a:extLst>
              <a:ext uri="{FF2B5EF4-FFF2-40B4-BE49-F238E27FC236}">
                <a16:creationId xmlns:a16="http://schemas.microsoft.com/office/drawing/2014/main" id="{F6E47E1C-70F1-0509-2AFB-466CFCD5044C}"/>
              </a:ext>
            </a:extLst>
          </p:cNvPr>
          <p:cNvSpPr txBox="1"/>
          <p:nvPr/>
        </p:nvSpPr>
        <p:spPr>
          <a:xfrm>
            <a:off x="10952850" y="6829764"/>
            <a:ext cx="4123884" cy="5447645"/>
          </a:xfrm>
          <a:prstGeom prst="rect">
            <a:avLst/>
          </a:prstGeom>
          <a:noFill/>
        </p:spPr>
        <p:txBody>
          <a:bodyPr wrap="square" rtlCol="0">
            <a:spAutoFit/>
          </a:bodyPr>
          <a:lstStyle/>
          <a:p>
            <a:r>
              <a:rPr lang="vi-VN" sz="1200" dirty="0">
                <a:latin typeface="+mj-lt"/>
              </a:rPr>
              <a:t>Phương pháp nghiên cứu được triển khai theo hướng nghiên cứu và phát triển hệ thống</a:t>
            </a:r>
            <a:r>
              <a:rPr lang="en-US" sz="1200" dirty="0">
                <a:latin typeface="+mj-lt"/>
              </a:rPr>
              <a:t> (</a:t>
            </a:r>
            <a:r>
              <a:rPr lang="en-US" sz="1200" dirty="0">
                <a:latin typeface="Times New Roman" panose="02020603050405020304" pitchFamily="18" charset="0"/>
                <a:cs typeface="Times New Roman" panose="02020603050405020304" pitchFamily="18" charset="0"/>
              </a:rPr>
              <a:t>Research &amp; Development – R&amp;D</a:t>
            </a:r>
            <a:r>
              <a:rPr lang="en-US" sz="1200" dirty="0">
                <a:latin typeface="+mj-lt"/>
              </a:rPr>
              <a:t>)</a:t>
            </a:r>
            <a:r>
              <a:rPr lang="vi-VN" sz="1200" dirty="0">
                <a:latin typeface="+mj-lt"/>
              </a:rPr>
              <a:t> kết hợp với phương pháp thực nghiệm. Nhóm bắt đầu từ việc phân tích thực trạng trong quản lý và giám sát tổ ong, từ đó đề xuất giải pháp IoT tích hợp Edge AI phù hợp. Quá trình nghiên cứu tập trung vào thiết kế phần cứng, phát triển phần mềm, xây dựng mô hình AI và kiểm thử kỹ thuật nhằm đánh giá khả năng hoạt động của hệ thống trong điều kiện thực tế.</a:t>
            </a:r>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pPr algn="ctr"/>
            <a:endParaRPr lang="en-US" sz="1200" i="1" dirty="0">
              <a:solidFill>
                <a:schemeClr val="tx1"/>
              </a:solidFill>
              <a:latin typeface="Times New Roman" panose="02020603050405020304" pitchFamily="18" charset="0"/>
              <a:cs typeface="Times New Roman" panose="02020603050405020304" pitchFamily="18" charset="0"/>
            </a:endParaRPr>
          </a:p>
          <a:p>
            <a:pPr algn="ctr"/>
            <a:endParaRPr lang="en-US" sz="1200" i="1" dirty="0">
              <a:solidFill>
                <a:schemeClr val="tx1"/>
              </a:solidFill>
              <a:latin typeface="Times New Roman" panose="02020603050405020304" pitchFamily="18" charset="0"/>
              <a:cs typeface="Times New Roman" panose="02020603050405020304" pitchFamily="18" charset="0"/>
            </a:endParaRPr>
          </a:p>
          <a:p>
            <a:pPr algn="ctr"/>
            <a:r>
              <a:rPr lang="en-US" sz="1200" i="1" dirty="0" err="1">
                <a:solidFill>
                  <a:schemeClr val="tx1"/>
                </a:solidFill>
                <a:latin typeface="Times New Roman" panose="02020603050405020304" pitchFamily="18" charset="0"/>
                <a:cs typeface="Times New Roman" panose="02020603050405020304" pitchFamily="18" charset="0"/>
              </a:rPr>
              <a:t>Bảng</a:t>
            </a:r>
            <a:r>
              <a:rPr lang="en-US" sz="1200" i="1" dirty="0">
                <a:solidFill>
                  <a:schemeClr val="tx1"/>
                </a:solidFill>
                <a:latin typeface="Times New Roman" panose="02020603050405020304" pitchFamily="18" charset="0"/>
                <a:cs typeface="Times New Roman" panose="02020603050405020304" pitchFamily="18" charset="0"/>
              </a:rPr>
              <a:t> 1: Giai </a:t>
            </a:r>
            <a:r>
              <a:rPr lang="en-US" sz="1200" i="1" dirty="0" err="1">
                <a:solidFill>
                  <a:schemeClr val="tx1"/>
                </a:solidFill>
                <a:latin typeface="Times New Roman" panose="02020603050405020304" pitchFamily="18" charset="0"/>
                <a:cs typeface="Times New Roman" panose="02020603050405020304" pitchFamily="18" charset="0"/>
              </a:rPr>
              <a:t>đoạn</a:t>
            </a:r>
            <a:r>
              <a:rPr lang="en-US" sz="1200" i="1" dirty="0">
                <a:solidFill>
                  <a:schemeClr val="tx1"/>
                </a:solidFill>
                <a:latin typeface="Times New Roman" panose="02020603050405020304" pitchFamily="18" charset="0"/>
                <a:cs typeface="Times New Roman" panose="02020603050405020304" pitchFamily="18" charset="0"/>
              </a:rPr>
              <a:t> </a:t>
            </a:r>
            <a:r>
              <a:rPr lang="en-US" sz="1200" i="1" dirty="0" err="1">
                <a:solidFill>
                  <a:schemeClr val="tx1"/>
                </a:solidFill>
                <a:latin typeface="Times New Roman" panose="02020603050405020304" pitchFamily="18" charset="0"/>
                <a:cs typeface="Times New Roman" panose="02020603050405020304" pitchFamily="18" charset="0"/>
              </a:rPr>
              <a:t>nghiên</a:t>
            </a:r>
            <a:r>
              <a:rPr lang="en-US" sz="1200" i="1" dirty="0">
                <a:solidFill>
                  <a:schemeClr val="tx1"/>
                </a:solidFill>
                <a:latin typeface="Times New Roman" panose="02020603050405020304" pitchFamily="18" charset="0"/>
                <a:cs typeface="Times New Roman" panose="02020603050405020304" pitchFamily="18" charset="0"/>
              </a:rPr>
              <a:t> </a:t>
            </a:r>
            <a:r>
              <a:rPr lang="en-US" sz="1200" i="1" dirty="0" err="1">
                <a:solidFill>
                  <a:schemeClr val="tx1"/>
                </a:solidFill>
                <a:latin typeface="Times New Roman" panose="02020603050405020304" pitchFamily="18" charset="0"/>
                <a:cs typeface="Times New Roman" panose="02020603050405020304" pitchFamily="18" charset="0"/>
              </a:rPr>
              <a:t>cứu</a:t>
            </a:r>
            <a:endParaRPr lang="vi-VN" sz="1200" i="1" dirty="0">
              <a:solidFill>
                <a:schemeClr val="tx1"/>
              </a:solidFill>
              <a:latin typeface="Times New Roman" panose="02020603050405020304" pitchFamily="18" charset="0"/>
              <a:cs typeface="Times New Roman" panose="02020603050405020304" pitchFamily="18" charset="0"/>
            </a:endParaRPr>
          </a:p>
          <a:p>
            <a:endParaRPr lang="en-US" sz="1200" dirty="0">
              <a:latin typeface="+mj-lt"/>
            </a:endParaRPr>
          </a:p>
        </p:txBody>
      </p:sp>
      <p:sp>
        <p:nvSpPr>
          <p:cNvPr id="24" name="Rectangle 3">
            <a:extLst>
              <a:ext uri="{FF2B5EF4-FFF2-40B4-BE49-F238E27FC236}">
                <a16:creationId xmlns:a16="http://schemas.microsoft.com/office/drawing/2014/main" id="{E62F9EBF-4B10-1876-9796-582409B7C7DA}"/>
              </a:ext>
            </a:extLst>
          </p:cNvPr>
          <p:cNvSpPr>
            <a:spLocks noChangeArrowheads="1"/>
          </p:cNvSpPr>
          <p:nvPr/>
        </p:nvSpPr>
        <p:spPr bwMode="auto">
          <a:xfrm>
            <a:off x="10872416" y="19034605"/>
            <a:ext cx="6909482"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rtl="0" eaLnBrk="0" fontAlgn="base" hangingPunct="0">
              <a:spcBef>
                <a:spcPct val="0"/>
              </a:spcBef>
              <a:spcAft>
                <a:spcPct val="0"/>
              </a:spcAft>
            </a:pPr>
            <a:endParaRPr lang="en-US" altLang="en-US" dirty="0">
              <a:solidFill>
                <a:schemeClr val="tx1"/>
              </a:solidFill>
              <a:latin typeface="Arial" panose="020B0604020202020204" pitchFamily="34" charset="0"/>
            </a:endParaRPr>
          </a:p>
          <a:p>
            <a:pPr algn="l" rtl="0" eaLnBrk="0" fontAlgn="base" hangingPunct="0">
              <a:spcBef>
                <a:spcPct val="0"/>
              </a:spcBef>
              <a:spcAft>
                <a:spcPct val="0"/>
              </a:spcAft>
            </a:pPr>
            <a:endParaRPr lang="en-US" altLang="en-US" dirty="0">
              <a:solidFill>
                <a:schemeClr val="tx1"/>
              </a:solidFill>
              <a:latin typeface="Arial" panose="020B0604020202020204" pitchFamily="34" charset="0"/>
            </a:endParaRPr>
          </a:p>
        </p:txBody>
      </p:sp>
      <p:sp>
        <p:nvSpPr>
          <p:cNvPr id="26" name="TextBox 25">
            <a:extLst>
              <a:ext uri="{FF2B5EF4-FFF2-40B4-BE49-F238E27FC236}">
                <a16:creationId xmlns:a16="http://schemas.microsoft.com/office/drawing/2014/main" id="{20EB4991-8A53-F04F-7A44-35C40DF175F3}"/>
              </a:ext>
            </a:extLst>
          </p:cNvPr>
          <p:cNvSpPr txBox="1"/>
          <p:nvPr/>
        </p:nvSpPr>
        <p:spPr>
          <a:xfrm>
            <a:off x="10816694" y="19042266"/>
            <a:ext cx="6952452" cy="1200329"/>
          </a:xfrm>
          <a:prstGeom prst="rect">
            <a:avLst/>
          </a:prstGeom>
          <a:noFill/>
        </p:spPr>
        <p:txBody>
          <a:bodyPr wrap="square" rtlCol="0">
            <a:spAutoFit/>
          </a:bodyPr>
          <a:lstStyle/>
          <a:p>
            <a:pPr algn="l" rtl="0" eaLnBrk="0" fontAlgn="base" hangingPunct="0">
              <a:spcBef>
                <a:spcPct val="0"/>
              </a:spcBef>
              <a:spcAft>
                <a:spcPct val="0"/>
              </a:spcAft>
              <a:buFontTx/>
              <a:buAutoNum type="arabicPeriod"/>
            </a:pP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Bộ</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Nông</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dirty="0" err="1">
                <a:solidFill>
                  <a:srgbClr val="303030"/>
                </a:solidFill>
                <a:latin typeface="Times New Roman" panose="02020603050405020304" pitchFamily="18" charset="0"/>
                <a:ea typeface="Google Sans Text"/>
                <a:cs typeface="Times New Roman" panose="02020603050405020304" pitchFamily="18" charset="0"/>
              </a:rPr>
              <a:t>nghiệp</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&amp; PTNT, </a:t>
            </a:r>
            <a:r>
              <a:rPr lang="en-US" altLang="en-US" sz="1200" i="1" dirty="0" err="1">
                <a:solidFill>
                  <a:srgbClr val="303030"/>
                </a:solidFill>
                <a:latin typeface="Times New Roman" panose="02020603050405020304" pitchFamily="18" charset="0"/>
                <a:ea typeface="Google Sans Text"/>
                <a:cs typeface="Times New Roman" panose="02020603050405020304" pitchFamily="18" charset="0"/>
              </a:rPr>
              <a:t>Quyết</a:t>
            </a:r>
            <a:r>
              <a:rPr lang="en-US" altLang="en-US" sz="1200" i="1"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i="1" dirty="0" err="1">
                <a:solidFill>
                  <a:srgbClr val="303030"/>
                </a:solidFill>
                <a:latin typeface="Times New Roman" panose="02020603050405020304" pitchFamily="18" charset="0"/>
                <a:ea typeface="Google Sans Text"/>
                <a:cs typeface="Times New Roman" panose="02020603050405020304" pitchFamily="18" charset="0"/>
              </a:rPr>
              <a:t>định</a:t>
            </a:r>
            <a:r>
              <a:rPr lang="en-US" altLang="en-US" sz="1200" i="1"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1200" i="1" dirty="0" err="1">
                <a:solidFill>
                  <a:srgbClr val="303030"/>
                </a:solidFill>
                <a:latin typeface="Times New Roman" panose="02020603050405020304" pitchFamily="18" charset="0"/>
                <a:ea typeface="Google Sans Text"/>
                <a:cs typeface="Times New Roman" panose="02020603050405020304" pitchFamily="18" charset="0"/>
              </a:rPr>
              <a:t>số</a:t>
            </a:r>
            <a:r>
              <a:rPr lang="en-US" altLang="en-US" sz="1200" i="1" dirty="0">
                <a:solidFill>
                  <a:srgbClr val="303030"/>
                </a:solidFill>
                <a:latin typeface="Times New Roman" panose="02020603050405020304" pitchFamily="18" charset="0"/>
                <a:ea typeface="Google Sans Text"/>
                <a:cs typeface="Times New Roman" panose="02020603050405020304" pitchFamily="18" charset="0"/>
              </a:rPr>
              <a:t> 898/QĐ-BNN-CN</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2024.</a:t>
            </a:r>
          </a:p>
          <a:p>
            <a:pPr algn="l" rtl="0" eaLnBrk="0" fontAlgn="base" hangingPunct="0">
              <a:spcBef>
                <a:spcPct val="0"/>
              </a:spcBef>
              <a:spcAft>
                <a:spcPct val="0"/>
              </a:spcAft>
              <a:buFontTx/>
              <a:buAutoNum type="arabicPeriod" startAt="2"/>
            </a:pP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H. Zhang et al., "Smart beehive monitoring system based on IoT sensors," </a:t>
            </a:r>
            <a:r>
              <a:rPr lang="en-US" altLang="en-US" sz="1200" i="1" dirty="0">
                <a:solidFill>
                  <a:srgbClr val="303030"/>
                </a:solidFill>
                <a:latin typeface="Times New Roman" panose="02020603050405020304" pitchFamily="18" charset="0"/>
                <a:ea typeface="Google Sans Text"/>
                <a:cs typeface="Times New Roman" panose="02020603050405020304" pitchFamily="18" charset="0"/>
              </a:rPr>
              <a:t>Computers and Electronics in Agriculture</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2020.</a:t>
            </a:r>
          </a:p>
          <a:p>
            <a:pPr algn="l" rtl="0" eaLnBrk="0" fontAlgn="base" hangingPunct="0">
              <a:spcBef>
                <a:spcPct val="0"/>
              </a:spcBef>
              <a:spcAft>
                <a:spcPct val="0"/>
              </a:spcAft>
              <a:buFontTx/>
              <a:buAutoNum type="arabicPeriod" startAt="3"/>
            </a:pP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M. Ramsey et al., "Swarming detection in honeybee colonies using vibration analysis," </a:t>
            </a:r>
            <a:r>
              <a:rPr lang="en-US" altLang="en-US" sz="1200" i="1" dirty="0">
                <a:solidFill>
                  <a:srgbClr val="303030"/>
                </a:solidFill>
                <a:latin typeface="Times New Roman" panose="02020603050405020304" pitchFamily="18" charset="0"/>
                <a:ea typeface="Google Sans Text"/>
                <a:cs typeface="Times New Roman" panose="02020603050405020304" pitchFamily="18" charset="0"/>
              </a:rPr>
              <a:t>IEEE Trans. Ind. Electron.</a:t>
            </a:r>
            <a:r>
              <a:rPr lang="en-US" altLang="en-US" sz="1200" dirty="0">
                <a:solidFill>
                  <a:srgbClr val="303030"/>
                </a:solidFill>
                <a:latin typeface="Times New Roman" panose="02020603050405020304" pitchFamily="18" charset="0"/>
                <a:ea typeface="Google Sans Text"/>
                <a:cs typeface="Times New Roman" panose="02020603050405020304" pitchFamily="18" charset="0"/>
              </a:rPr>
              <a:t>, 2020</a:t>
            </a:r>
          </a:p>
          <a:p>
            <a:endParaRPr lang="en-US" sz="1200"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4F68B86A-BF8E-C0E6-167A-7C70CF154827}"/>
              </a:ext>
            </a:extLst>
          </p:cNvPr>
          <p:cNvSpPr txBox="1"/>
          <p:nvPr/>
        </p:nvSpPr>
        <p:spPr>
          <a:xfrm>
            <a:off x="19163022" y="9067444"/>
            <a:ext cx="1933543" cy="461665"/>
          </a:xfrm>
          <a:prstGeom prst="rect">
            <a:avLst/>
          </a:prstGeom>
          <a:noFill/>
        </p:spPr>
        <p:txBody>
          <a:bodyPr wrap="none" rtlCol="0">
            <a:spAutoFit/>
          </a:bodyPr>
          <a:lstStyle/>
          <a:p>
            <a:pPr algn="ctr"/>
            <a:r>
              <a:rPr lang="en-US" sz="1200" i="1" dirty="0" err="1">
                <a:solidFill>
                  <a:schemeClr val="tx1"/>
                </a:solidFill>
                <a:latin typeface="Times New Roman" panose="02020603050405020304" pitchFamily="18" charset="0"/>
                <a:cs typeface="Times New Roman" panose="02020603050405020304" pitchFamily="18" charset="0"/>
              </a:rPr>
              <a:t>Hình</a:t>
            </a:r>
            <a:r>
              <a:rPr lang="en-US" sz="1200" i="1" dirty="0">
                <a:solidFill>
                  <a:schemeClr val="tx1"/>
                </a:solidFill>
                <a:latin typeface="Times New Roman" panose="02020603050405020304" pitchFamily="18" charset="0"/>
                <a:cs typeface="Times New Roman" panose="02020603050405020304" pitchFamily="18" charset="0"/>
              </a:rPr>
              <a:t> 2: </a:t>
            </a:r>
            <a:r>
              <a:rPr lang="en-US" sz="1200" i="1" dirty="0" err="1">
                <a:solidFill>
                  <a:schemeClr val="tx1"/>
                </a:solidFill>
                <a:latin typeface="Times New Roman" panose="02020603050405020304" pitchFamily="18" charset="0"/>
                <a:cs typeface="Times New Roman" panose="02020603050405020304" pitchFamily="18" charset="0"/>
              </a:rPr>
              <a:t>Tổng</a:t>
            </a:r>
            <a:r>
              <a:rPr lang="en-US" sz="1200" i="1" dirty="0">
                <a:solidFill>
                  <a:schemeClr val="tx1"/>
                </a:solidFill>
                <a:latin typeface="Times New Roman" panose="02020603050405020304" pitchFamily="18" charset="0"/>
                <a:cs typeface="Times New Roman" panose="02020603050405020304" pitchFamily="18" charset="0"/>
              </a:rPr>
              <a:t> </a:t>
            </a:r>
            <a:r>
              <a:rPr lang="en-US" sz="1200" i="1" dirty="0" err="1">
                <a:solidFill>
                  <a:schemeClr val="tx1"/>
                </a:solidFill>
                <a:latin typeface="Times New Roman" panose="02020603050405020304" pitchFamily="18" charset="0"/>
                <a:cs typeface="Times New Roman" panose="02020603050405020304" pitchFamily="18" charset="0"/>
              </a:rPr>
              <a:t>quan</a:t>
            </a:r>
            <a:r>
              <a:rPr lang="en-US" sz="1200" i="1" dirty="0">
                <a:solidFill>
                  <a:schemeClr val="tx1"/>
                </a:solidFill>
                <a:latin typeface="Times New Roman" panose="02020603050405020304" pitchFamily="18" charset="0"/>
                <a:cs typeface="Times New Roman" panose="02020603050405020304" pitchFamily="18" charset="0"/>
              </a:rPr>
              <a:t> </a:t>
            </a:r>
            <a:r>
              <a:rPr lang="en-US" sz="1200" i="1" dirty="0" err="1">
                <a:solidFill>
                  <a:schemeClr val="tx1"/>
                </a:solidFill>
                <a:latin typeface="Times New Roman" panose="02020603050405020304" pitchFamily="18" charset="0"/>
                <a:cs typeface="Times New Roman" panose="02020603050405020304" pitchFamily="18" charset="0"/>
              </a:rPr>
              <a:t>hệ</a:t>
            </a:r>
            <a:r>
              <a:rPr lang="en-US" sz="1200" i="1" dirty="0">
                <a:solidFill>
                  <a:schemeClr val="tx1"/>
                </a:solidFill>
                <a:latin typeface="Times New Roman" panose="02020603050405020304" pitchFamily="18" charset="0"/>
                <a:cs typeface="Times New Roman" panose="02020603050405020304" pitchFamily="18" charset="0"/>
              </a:rPr>
              <a:t> </a:t>
            </a:r>
            <a:r>
              <a:rPr lang="en-US" sz="1200" i="1" dirty="0" err="1">
                <a:solidFill>
                  <a:schemeClr val="tx1"/>
                </a:solidFill>
                <a:latin typeface="Times New Roman" panose="02020603050405020304" pitchFamily="18" charset="0"/>
                <a:cs typeface="Times New Roman" panose="02020603050405020304" pitchFamily="18" charset="0"/>
              </a:rPr>
              <a:t>thống</a:t>
            </a:r>
            <a:endParaRPr lang="vi-VN" sz="1200" i="1" dirty="0">
              <a:solidFill>
                <a:schemeClr val="tx1"/>
              </a:solidFill>
              <a:latin typeface="Times New Roman" panose="02020603050405020304" pitchFamily="18" charset="0"/>
              <a:cs typeface="Times New Roman" panose="02020603050405020304" pitchFamily="18" charset="0"/>
            </a:endParaRPr>
          </a:p>
          <a:p>
            <a:endParaRPr lang="en-US" sz="1200" dirty="0"/>
          </a:p>
        </p:txBody>
      </p:sp>
      <p:sp>
        <p:nvSpPr>
          <p:cNvPr id="28" name="TextBox 27">
            <a:extLst>
              <a:ext uri="{FF2B5EF4-FFF2-40B4-BE49-F238E27FC236}">
                <a16:creationId xmlns:a16="http://schemas.microsoft.com/office/drawing/2014/main" id="{89B8FFD3-882D-56AD-91B1-7C3C0FB5E91D}"/>
              </a:ext>
            </a:extLst>
          </p:cNvPr>
          <p:cNvSpPr txBox="1"/>
          <p:nvPr/>
        </p:nvSpPr>
        <p:spPr>
          <a:xfrm>
            <a:off x="15444055" y="10297222"/>
            <a:ext cx="4391573" cy="5632311"/>
          </a:xfrm>
          <a:prstGeom prst="rect">
            <a:avLst/>
          </a:prstGeom>
          <a:noFill/>
        </p:spPr>
        <p:txBody>
          <a:bodyPr wrap="square" rtlCol="0">
            <a:spAutoFit/>
          </a:bodyPr>
          <a:lstStyle/>
          <a:p>
            <a:r>
              <a:rPr lang="vi-VN" sz="1200" dirty="0">
                <a:latin typeface="Times New Roman" panose="02020603050405020304" pitchFamily="18" charset="0"/>
                <a:cs typeface="Times New Roman" panose="02020603050405020304" pitchFamily="18" charset="0"/>
              </a:rPr>
              <a:t>Quá trình thí nghiệm được thực hiện trên nguyên mẫu (prototype) hệ thống BumbleBee nhằm đánh giá độ chính xác của các cảm biến, hiệu suất xử lý của mô hình trí tuệ nhân tạo tại biên và tính ổn định của hạ tầng truyền thông IoT trong môi trường thực tế</a:t>
            </a:r>
            <a:endParaRPr lang="en-US" sz="1200" dirty="0">
              <a:latin typeface="Times New Roman" panose="02020603050405020304" pitchFamily="18" charset="0"/>
              <a:cs typeface="Times New Roman" panose="02020603050405020304" pitchFamily="18" charset="0"/>
            </a:endParaRPr>
          </a:p>
          <a:p>
            <a:r>
              <a:rPr lang="en-US" sz="1200" dirty="0" err="1">
                <a:solidFill>
                  <a:srgbClr val="C00000"/>
                </a:solidFill>
                <a:latin typeface="Times New Roman" panose="02020603050405020304" pitchFamily="18" charset="0"/>
                <a:cs typeface="Times New Roman" panose="02020603050405020304" pitchFamily="18" charset="0"/>
              </a:rPr>
              <a:t>Thiết</a:t>
            </a:r>
            <a:r>
              <a:rPr lang="en-US" sz="1200" dirty="0">
                <a:solidFill>
                  <a:srgbClr val="C00000"/>
                </a:solidFill>
                <a:latin typeface="Times New Roman" panose="02020603050405020304" pitchFamily="18" charset="0"/>
                <a:cs typeface="Times New Roman" panose="02020603050405020304" pitchFamily="18" charset="0"/>
              </a:rPr>
              <a:t> </a:t>
            </a:r>
            <a:r>
              <a:rPr lang="en-US" sz="1200" dirty="0" err="1">
                <a:solidFill>
                  <a:srgbClr val="C00000"/>
                </a:solidFill>
                <a:latin typeface="Times New Roman" panose="02020603050405020304" pitchFamily="18" charset="0"/>
                <a:cs typeface="Times New Roman" panose="02020603050405020304" pitchFamily="18" charset="0"/>
              </a:rPr>
              <a:t>lập</a:t>
            </a:r>
            <a:r>
              <a:rPr lang="en-US" sz="1200" dirty="0">
                <a:solidFill>
                  <a:srgbClr val="C00000"/>
                </a:solidFill>
                <a:latin typeface="Times New Roman" panose="02020603050405020304" pitchFamily="18" charset="0"/>
                <a:cs typeface="Times New Roman" panose="02020603050405020304" pitchFamily="18" charset="0"/>
              </a:rPr>
              <a:t> </a:t>
            </a:r>
            <a:r>
              <a:rPr lang="en-US" sz="1200" dirty="0" err="1">
                <a:solidFill>
                  <a:srgbClr val="C00000"/>
                </a:solidFill>
                <a:latin typeface="Times New Roman" panose="02020603050405020304" pitchFamily="18" charset="0"/>
                <a:cs typeface="Times New Roman" panose="02020603050405020304" pitchFamily="18" charset="0"/>
              </a:rPr>
              <a:t>thí</a:t>
            </a:r>
            <a:r>
              <a:rPr lang="en-US" sz="1200" dirty="0">
                <a:solidFill>
                  <a:srgbClr val="C00000"/>
                </a:solidFill>
                <a:latin typeface="Times New Roman" panose="02020603050405020304" pitchFamily="18" charset="0"/>
                <a:cs typeface="Times New Roman" panose="02020603050405020304" pitchFamily="18" charset="0"/>
              </a:rPr>
              <a:t> </a:t>
            </a:r>
            <a:r>
              <a:rPr lang="en-US" sz="1200" dirty="0" err="1">
                <a:solidFill>
                  <a:srgbClr val="C00000"/>
                </a:solidFill>
                <a:latin typeface="Times New Roman" panose="02020603050405020304" pitchFamily="18" charset="0"/>
                <a:cs typeface="Times New Roman" panose="02020603050405020304" pitchFamily="18" charset="0"/>
              </a:rPr>
              <a:t>nghiệm</a:t>
            </a:r>
            <a:endParaRPr lang="en-US" sz="1200" dirty="0">
              <a:solidFill>
                <a:srgbClr val="C00000"/>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r>
              <a:rPr lang="en-US" altLang="en-US" sz="1200" dirty="0" err="1">
                <a:latin typeface="Times New Roman" panose="02020603050405020304" pitchFamily="18" charset="0"/>
                <a:cs typeface="Times New Roman" panose="02020603050405020304" pitchFamily="18" charset="0"/>
              </a:rPr>
              <a:t>Thiết</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bị</a:t>
            </a:r>
            <a:r>
              <a:rPr lang="en-US" altLang="en-US" sz="1200" dirty="0">
                <a:latin typeface="Times New Roman" panose="02020603050405020304" pitchFamily="18" charset="0"/>
                <a:cs typeface="Times New Roman" panose="02020603050405020304" pitchFamily="18" charset="0"/>
              </a:rPr>
              <a:t>: Vi </a:t>
            </a:r>
            <a:r>
              <a:rPr lang="en-US" altLang="en-US" sz="1200" dirty="0" err="1">
                <a:latin typeface="Times New Roman" panose="02020603050405020304" pitchFamily="18" charset="0"/>
                <a:cs typeface="Times New Roman" panose="02020603050405020304" pitchFamily="18" charset="0"/>
              </a:rPr>
              <a:t>điều</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khiển</a:t>
            </a:r>
            <a:r>
              <a:rPr lang="en-US" altLang="en-US" sz="1200" dirty="0">
                <a:latin typeface="Times New Roman" panose="02020603050405020304" pitchFamily="18" charset="0"/>
                <a:cs typeface="Times New Roman" panose="02020603050405020304" pitchFamily="18" charset="0"/>
              </a:rPr>
              <a:t> ESP32-S3 </a:t>
            </a:r>
            <a:r>
              <a:rPr lang="en-US" altLang="en-US" sz="1200" dirty="0" err="1">
                <a:latin typeface="Times New Roman" panose="02020603050405020304" pitchFamily="18" charset="0"/>
                <a:cs typeface="Times New Roman" panose="02020603050405020304" pitchFamily="18" charset="0"/>
              </a:rPr>
              <a:t>tích</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hợp</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các</a:t>
            </a:r>
            <a:r>
              <a:rPr lang="en-US" altLang="en-US" sz="1200" dirty="0">
                <a:latin typeface="Times New Roman" panose="02020603050405020304" pitchFamily="18" charset="0"/>
                <a:cs typeface="Times New Roman" panose="02020603050405020304" pitchFamily="18" charset="0"/>
              </a:rPr>
              <a:t> module </a:t>
            </a:r>
            <a:r>
              <a:rPr lang="en-US" altLang="en-US" sz="1200" dirty="0" err="1">
                <a:latin typeface="Times New Roman" panose="02020603050405020304" pitchFamily="18" charset="0"/>
                <a:cs typeface="Times New Roman" panose="02020603050405020304" pitchFamily="18" charset="0"/>
              </a:rPr>
              <a:t>cảm</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biến</a:t>
            </a:r>
            <a:r>
              <a:rPr lang="en-US" altLang="en-US" sz="1200" dirty="0">
                <a:latin typeface="Times New Roman" panose="02020603050405020304" pitchFamily="18" charset="0"/>
                <a:cs typeface="Times New Roman" panose="02020603050405020304" pitchFamily="18" charset="0"/>
              </a:rPr>
              <a:t> SHT30, Loadcell 20kg (HX711), Micro INMP441, GPS GT-U8 </a:t>
            </a:r>
            <a:r>
              <a:rPr lang="en-US" altLang="en-US" sz="1200" dirty="0" err="1">
                <a:latin typeface="Times New Roman" panose="02020603050405020304" pitchFamily="18" charset="0"/>
                <a:cs typeface="Times New Roman" panose="02020603050405020304" pitchFamily="18" charset="0"/>
              </a:rPr>
              <a:t>và</a:t>
            </a:r>
            <a:r>
              <a:rPr lang="en-US" altLang="en-US" sz="1200" dirty="0">
                <a:latin typeface="Times New Roman" panose="02020603050405020304" pitchFamily="18" charset="0"/>
                <a:cs typeface="Times New Roman" panose="02020603050405020304" pitchFamily="18" charset="0"/>
              </a:rPr>
              <a:t> module 4G A7680C.</a:t>
            </a:r>
          </a:p>
          <a:p>
            <a:pPr algn="l" rtl="0" eaLnBrk="0" fontAlgn="base" hangingPunct="0">
              <a:spcBef>
                <a:spcPct val="0"/>
              </a:spcBef>
              <a:spcAft>
                <a:spcPct val="0"/>
              </a:spcAft>
              <a:buFontTx/>
              <a:buChar char="•"/>
            </a:pPr>
            <a:r>
              <a:rPr lang="en-US" altLang="en-US" sz="1200" dirty="0" err="1">
                <a:latin typeface="Times New Roman" panose="02020603050405020304" pitchFamily="18" charset="0"/>
                <a:cs typeface="Times New Roman" panose="02020603050405020304" pitchFamily="18" charset="0"/>
              </a:rPr>
              <a:t>Cơ</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khí</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Hệ</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thống</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khung</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đế</a:t>
            </a:r>
            <a:r>
              <a:rPr lang="en-US" altLang="en-US" sz="1200" dirty="0">
                <a:latin typeface="Times New Roman" panose="02020603050405020304" pitchFamily="18" charset="0"/>
                <a:cs typeface="Times New Roman" panose="02020603050405020304" pitchFamily="18" charset="0"/>
              </a:rPr>
              <a:t> X.</a:t>
            </a:r>
          </a:p>
          <a:p>
            <a:pPr algn="l" rtl="0" eaLnBrk="0" fontAlgn="base" hangingPunct="0">
              <a:spcBef>
                <a:spcPct val="0"/>
              </a:spcBef>
              <a:spcAft>
                <a:spcPct val="0"/>
              </a:spcAft>
              <a:buFontTx/>
              <a:buChar char="•"/>
            </a:pPr>
            <a:r>
              <a:rPr lang="en-US" altLang="en-US" sz="1200" dirty="0" err="1">
                <a:latin typeface="Times New Roman" panose="02020603050405020304" pitchFamily="18" charset="0"/>
                <a:cs typeface="Times New Roman" panose="02020603050405020304" pitchFamily="18" charset="0"/>
              </a:rPr>
              <a:t>Môi</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trường</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Thử</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nghiệm</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được</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tiến</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hành</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trong</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cả</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môi</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trường</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phòng</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thí</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nghiệm</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kiểm</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soát</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nhiệt</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độ</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và</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thực</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địa</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ngoài</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trời</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để</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kiểm</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tra</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tính</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ổn</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định</a:t>
            </a:r>
            <a:endParaRPr lang="en-US" altLang="en-US" sz="12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2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pPr>
            <a:endParaRPr lang="en-US" altLang="en-US" sz="12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2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2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2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2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2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2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200" dirty="0">
              <a:latin typeface="Times New Roman" panose="02020603050405020304" pitchFamily="18" charset="0"/>
              <a:cs typeface="Times New Roman" panose="02020603050405020304" pitchFamily="18" charset="0"/>
            </a:endParaRPr>
          </a:p>
          <a:p>
            <a:pPr algn="ctr" rtl="0" eaLnBrk="0" fontAlgn="base" hangingPunct="0">
              <a:spcBef>
                <a:spcPct val="0"/>
              </a:spcBef>
              <a:spcAft>
                <a:spcPct val="0"/>
              </a:spcAft>
            </a:pPr>
            <a:r>
              <a:rPr lang="en-US" altLang="en-US" sz="1200" i="1" dirty="0" err="1">
                <a:latin typeface="Times New Roman" panose="02020603050405020304" pitchFamily="18" charset="0"/>
                <a:cs typeface="Times New Roman" panose="02020603050405020304" pitchFamily="18" charset="0"/>
              </a:rPr>
              <a:t>Hình</a:t>
            </a:r>
            <a:r>
              <a:rPr lang="en-US" altLang="en-US" sz="1200" i="1" dirty="0">
                <a:latin typeface="Times New Roman" panose="02020603050405020304" pitchFamily="18" charset="0"/>
                <a:cs typeface="Times New Roman" panose="02020603050405020304" pitchFamily="18" charset="0"/>
              </a:rPr>
              <a:t> 3,4: </a:t>
            </a:r>
            <a:r>
              <a:rPr lang="en-US" altLang="en-US" sz="1200" i="1" dirty="0" err="1">
                <a:latin typeface="Times New Roman" panose="02020603050405020304" pitchFamily="18" charset="0"/>
                <a:cs typeface="Times New Roman" panose="02020603050405020304" pitchFamily="18" charset="0"/>
              </a:rPr>
              <a:t>Mô</a:t>
            </a:r>
            <a:r>
              <a:rPr lang="en-US" altLang="en-US" sz="1200" i="1" dirty="0">
                <a:latin typeface="Times New Roman" panose="02020603050405020304" pitchFamily="18" charset="0"/>
                <a:cs typeface="Times New Roman" panose="02020603050405020304" pitchFamily="18" charset="0"/>
              </a:rPr>
              <a:t> </a:t>
            </a:r>
            <a:r>
              <a:rPr lang="en-US" altLang="en-US" sz="1200" i="1" dirty="0" err="1">
                <a:latin typeface="Times New Roman" panose="02020603050405020304" pitchFamily="18" charset="0"/>
                <a:cs typeface="Times New Roman" panose="02020603050405020304" pitchFamily="18" charset="0"/>
              </a:rPr>
              <a:t>hình</a:t>
            </a:r>
            <a:r>
              <a:rPr lang="en-US" altLang="en-US" sz="1200" i="1" dirty="0">
                <a:latin typeface="Times New Roman" panose="02020603050405020304" pitchFamily="18" charset="0"/>
                <a:cs typeface="Times New Roman" panose="02020603050405020304" pitchFamily="18" charset="0"/>
              </a:rPr>
              <a:t> prototype </a:t>
            </a:r>
          </a:p>
          <a:p>
            <a:r>
              <a:rPr lang="en-US" sz="1200" dirty="0" err="1">
                <a:solidFill>
                  <a:srgbClr val="C00000"/>
                </a:solidFill>
                <a:latin typeface="Times New Roman" panose="02020603050405020304" pitchFamily="18" charset="0"/>
                <a:cs typeface="Times New Roman" panose="02020603050405020304" pitchFamily="18" charset="0"/>
              </a:rPr>
              <a:t>Kịch</a:t>
            </a:r>
            <a:r>
              <a:rPr lang="en-US" sz="1200" dirty="0">
                <a:solidFill>
                  <a:srgbClr val="C00000"/>
                </a:solidFill>
                <a:latin typeface="Times New Roman" panose="02020603050405020304" pitchFamily="18" charset="0"/>
                <a:cs typeface="Times New Roman" panose="02020603050405020304" pitchFamily="18" charset="0"/>
              </a:rPr>
              <a:t> </a:t>
            </a:r>
            <a:r>
              <a:rPr lang="en-US" sz="1200" dirty="0" err="1">
                <a:solidFill>
                  <a:srgbClr val="C00000"/>
                </a:solidFill>
                <a:latin typeface="Times New Roman" panose="02020603050405020304" pitchFamily="18" charset="0"/>
                <a:cs typeface="Times New Roman" panose="02020603050405020304" pitchFamily="18" charset="0"/>
              </a:rPr>
              <a:t>bản</a:t>
            </a:r>
            <a:r>
              <a:rPr lang="en-US" sz="1200" dirty="0">
                <a:solidFill>
                  <a:srgbClr val="C00000"/>
                </a:solidFill>
                <a:latin typeface="Times New Roman" panose="02020603050405020304" pitchFamily="18" charset="0"/>
                <a:cs typeface="Times New Roman" panose="02020603050405020304" pitchFamily="18" charset="0"/>
              </a:rPr>
              <a:t> </a:t>
            </a:r>
            <a:r>
              <a:rPr lang="en-US" sz="1200" dirty="0" err="1">
                <a:solidFill>
                  <a:srgbClr val="C00000"/>
                </a:solidFill>
                <a:latin typeface="Times New Roman" panose="02020603050405020304" pitchFamily="18" charset="0"/>
                <a:cs typeface="Times New Roman" panose="02020603050405020304" pitchFamily="18" charset="0"/>
              </a:rPr>
              <a:t>và</a:t>
            </a:r>
            <a:r>
              <a:rPr lang="en-US" sz="1200" dirty="0">
                <a:solidFill>
                  <a:srgbClr val="C00000"/>
                </a:solidFill>
                <a:latin typeface="Times New Roman" panose="02020603050405020304" pitchFamily="18" charset="0"/>
                <a:cs typeface="Times New Roman" panose="02020603050405020304" pitchFamily="18" charset="0"/>
              </a:rPr>
              <a:t> </a:t>
            </a:r>
            <a:r>
              <a:rPr lang="en-US" sz="1200" dirty="0" err="1">
                <a:solidFill>
                  <a:srgbClr val="C00000"/>
                </a:solidFill>
                <a:latin typeface="Times New Roman" panose="02020603050405020304" pitchFamily="18" charset="0"/>
                <a:cs typeface="Times New Roman" panose="02020603050405020304" pitchFamily="18" charset="0"/>
              </a:rPr>
              <a:t>Kết</a:t>
            </a:r>
            <a:r>
              <a:rPr lang="en-US" sz="1200" dirty="0">
                <a:solidFill>
                  <a:srgbClr val="C00000"/>
                </a:solidFill>
                <a:latin typeface="Times New Roman" panose="02020603050405020304" pitchFamily="18" charset="0"/>
                <a:cs typeface="Times New Roman" panose="02020603050405020304" pitchFamily="18" charset="0"/>
              </a:rPr>
              <a:t> </a:t>
            </a:r>
            <a:r>
              <a:rPr lang="en-US" sz="1200" dirty="0" err="1">
                <a:solidFill>
                  <a:srgbClr val="C00000"/>
                </a:solidFill>
                <a:latin typeface="Times New Roman" panose="02020603050405020304" pitchFamily="18" charset="0"/>
                <a:cs typeface="Times New Roman" panose="02020603050405020304" pitchFamily="18" charset="0"/>
              </a:rPr>
              <a:t>quả</a:t>
            </a:r>
            <a:r>
              <a:rPr lang="en-US" sz="1200" dirty="0">
                <a:solidFill>
                  <a:srgbClr val="C00000"/>
                </a:solidFill>
                <a:latin typeface="Times New Roman" panose="02020603050405020304" pitchFamily="18" charset="0"/>
                <a:cs typeface="Times New Roman" panose="02020603050405020304" pitchFamily="18" charset="0"/>
              </a:rPr>
              <a:t> </a:t>
            </a:r>
            <a:r>
              <a:rPr lang="en-US" sz="1200" dirty="0" err="1">
                <a:solidFill>
                  <a:srgbClr val="C00000"/>
                </a:solidFill>
                <a:latin typeface="Times New Roman" panose="02020603050405020304" pitchFamily="18" charset="0"/>
                <a:cs typeface="Times New Roman" panose="02020603050405020304" pitchFamily="18" charset="0"/>
              </a:rPr>
              <a:t>kiểm</a:t>
            </a:r>
            <a:r>
              <a:rPr lang="en-US" sz="1200" dirty="0">
                <a:solidFill>
                  <a:srgbClr val="C00000"/>
                </a:solidFill>
                <a:latin typeface="Times New Roman" panose="02020603050405020304" pitchFamily="18" charset="0"/>
                <a:cs typeface="Times New Roman" panose="02020603050405020304" pitchFamily="18" charset="0"/>
              </a:rPr>
              <a:t> </a:t>
            </a:r>
            <a:r>
              <a:rPr lang="en-US" sz="1200" dirty="0" err="1">
                <a:solidFill>
                  <a:srgbClr val="C00000"/>
                </a:solidFill>
                <a:latin typeface="Times New Roman" panose="02020603050405020304" pitchFamily="18" charset="0"/>
                <a:cs typeface="Times New Roman" panose="02020603050405020304" pitchFamily="18" charset="0"/>
              </a:rPr>
              <a:t>tra</a:t>
            </a:r>
            <a:r>
              <a:rPr lang="en-US" sz="1200" dirty="0">
                <a:solidFill>
                  <a:srgbClr val="C00000"/>
                </a:solidFill>
                <a:latin typeface="Times New Roman" panose="02020603050405020304" pitchFamily="18" charset="0"/>
                <a:cs typeface="Times New Roman" panose="02020603050405020304" pitchFamily="18" charset="0"/>
              </a:rPr>
              <a:t> chi </a:t>
            </a:r>
            <a:r>
              <a:rPr lang="en-US" sz="1200" dirty="0" err="1">
                <a:solidFill>
                  <a:srgbClr val="C00000"/>
                </a:solidFill>
                <a:latin typeface="Times New Roman" panose="02020603050405020304" pitchFamily="18" charset="0"/>
                <a:cs typeface="Times New Roman" panose="02020603050405020304" pitchFamily="18" charset="0"/>
              </a:rPr>
              <a:t>tiết</a:t>
            </a:r>
            <a:endParaRPr lang="en-US" sz="1200" dirty="0">
              <a:solidFill>
                <a:srgbClr val="C00000"/>
              </a:solidFill>
              <a:latin typeface="Times New Roman" panose="02020603050405020304" pitchFamily="18" charset="0"/>
              <a:cs typeface="Times New Roman" panose="02020603050405020304" pitchFamily="18" charset="0"/>
            </a:endParaRPr>
          </a:p>
          <a:p>
            <a:r>
              <a:rPr lang="vi-VN" sz="1200" dirty="0">
                <a:latin typeface="Times New Roman" panose="02020603050405020304" pitchFamily="18" charset="0"/>
                <a:cs typeface="Times New Roman" panose="02020603050405020304" pitchFamily="18" charset="0"/>
              </a:rPr>
              <a:t>Hệ thống đã trải qua 1</a:t>
            </a:r>
            <a:r>
              <a:rPr lang="en-US" sz="1200" dirty="0">
                <a:latin typeface="Times New Roman" panose="02020603050405020304" pitchFamily="18" charset="0"/>
                <a:cs typeface="Times New Roman" panose="02020603050405020304" pitchFamily="18" charset="0"/>
              </a:rPr>
              <a:t>2</a:t>
            </a:r>
            <a:r>
              <a:rPr lang="vi-VN" sz="1200" dirty="0">
                <a:latin typeface="Times New Roman" panose="02020603050405020304" pitchFamily="18" charset="0"/>
                <a:cs typeface="Times New Roman" panose="02020603050405020304" pitchFamily="18" charset="0"/>
              </a:rPr>
              <a:t> bài kiểm tra với các tiêu chí về sai số vật lý, khả năng suy luận AI và độ trễ truyền tin. Kết quả cụ thể được trình bày trong bảng sau:</a:t>
            </a:r>
            <a:endParaRPr lang="en-US" sz="1200" dirty="0">
              <a:latin typeface="Times New Roman" panose="02020603050405020304" pitchFamily="18" charset="0"/>
              <a:cs typeface="Times New Roman" panose="02020603050405020304" pitchFamily="18" charset="0"/>
            </a:endParaRPr>
          </a:p>
          <a:p>
            <a:endParaRPr lang="en-US" sz="1200" b="1" dirty="0">
              <a:solidFill>
                <a:srgbClr val="C00000"/>
              </a:solidFill>
            </a:endParaRPr>
          </a:p>
          <a:p>
            <a:endParaRPr lang="en-US" sz="1200" dirty="0">
              <a:latin typeface="+mj-lt"/>
            </a:endParaRPr>
          </a:p>
          <a:p>
            <a:endParaRPr lang="en-US" sz="1200" dirty="0">
              <a:latin typeface="+mj-lt"/>
            </a:endParaRPr>
          </a:p>
        </p:txBody>
      </p:sp>
      <p:sp>
        <p:nvSpPr>
          <p:cNvPr id="32" name="Rectangle 5">
            <a:extLst>
              <a:ext uri="{FF2B5EF4-FFF2-40B4-BE49-F238E27FC236}">
                <a16:creationId xmlns:a16="http://schemas.microsoft.com/office/drawing/2014/main" id="{47C3F7F5-7F84-B6E4-5250-E2E4B8C2D09B}"/>
              </a:ext>
            </a:extLst>
          </p:cNvPr>
          <p:cNvSpPr>
            <a:spLocks noChangeArrowheads="1"/>
          </p:cNvSpPr>
          <p:nvPr/>
        </p:nvSpPr>
        <p:spPr bwMode="auto">
          <a:xfrm>
            <a:off x="14898690" y="11878847"/>
            <a:ext cx="184731" cy="7848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l" rtl="0" eaLnBrk="0" fontAlgn="base" hangingPunct="0">
              <a:spcBef>
                <a:spcPct val="0"/>
              </a:spcBef>
              <a:spcAft>
                <a:spcPct val="0"/>
              </a:spcAft>
            </a:pPr>
            <a:endParaRPr lang="en-US" altLang="en-US" dirty="0">
              <a:solidFill>
                <a:schemeClr val="tx1"/>
              </a:solidFill>
              <a:latin typeface="Arial" panose="020B0604020202020204" pitchFamily="34" charset="0"/>
            </a:endParaRPr>
          </a:p>
          <a:p>
            <a:pPr algn="l" rtl="0" eaLnBrk="0" fontAlgn="base" hangingPunct="0">
              <a:spcBef>
                <a:spcPct val="0"/>
              </a:spcBef>
              <a:spcAft>
                <a:spcPct val="0"/>
              </a:spcAft>
            </a:pPr>
            <a:br>
              <a:rPr lang="en-US" altLang="en-US" sz="900" dirty="0">
                <a:solidFill>
                  <a:schemeClr val="tx1"/>
                </a:solidFill>
                <a:latin typeface="Arial" panose="020B0604020202020204" pitchFamily="34" charset="0"/>
              </a:rPr>
            </a:br>
            <a:endParaRPr lang="en-US" altLang="en-US" dirty="0">
              <a:solidFill>
                <a:schemeClr val="tx1"/>
              </a:solidFill>
              <a:latin typeface="Arial" panose="020B0604020202020204" pitchFamily="34" charset="0"/>
            </a:endParaRPr>
          </a:p>
        </p:txBody>
      </p:sp>
      <p:pic>
        <p:nvPicPr>
          <p:cNvPr id="44" name="Picture 43">
            <a:extLst>
              <a:ext uri="{FF2B5EF4-FFF2-40B4-BE49-F238E27FC236}">
                <a16:creationId xmlns:a16="http://schemas.microsoft.com/office/drawing/2014/main" id="{0A65E5BF-1F1B-D430-0BE2-E2F75B3EAC0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7923913" y="12504515"/>
            <a:ext cx="2151006" cy="1614226"/>
          </a:xfrm>
          <a:prstGeom prst="rect">
            <a:avLst/>
          </a:prstGeom>
        </p:spPr>
      </p:pic>
      <p:pic>
        <p:nvPicPr>
          <p:cNvPr id="46" name="Picture 45">
            <a:extLst>
              <a:ext uri="{FF2B5EF4-FFF2-40B4-BE49-F238E27FC236}">
                <a16:creationId xmlns:a16="http://schemas.microsoft.com/office/drawing/2014/main" id="{FC05D731-0DC2-7F9D-007C-D92FC7FCD50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435949" y="12380537"/>
            <a:ext cx="2622979" cy="1862182"/>
          </a:xfrm>
          <a:prstGeom prst="rect">
            <a:avLst/>
          </a:prstGeom>
        </p:spPr>
      </p:pic>
      <p:pic>
        <p:nvPicPr>
          <p:cNvPr id="63" name="Picture 62">
            <a:extLst>
              <a:ext uri="{FF2B5EF4-FFF2-40B4-BE49-F238E27FC236}">
                <a16:creationId xmlns:a16="http://schemas.microsoft.com/office/drawing/2014/main" id="{E9B9C9D3-0408-313A-95CA-90210C071B9F}"/>
              </a:ext>
            </a:extLst>
          </p:cNvPr>
          <p:cNvPicPr>
            <a:picLocks noChangeAspect="1"/>
          </p:cNvPicPr>
          <p:nvPr/>
        </p:nvPicPr>
        <p:blipFill>
          <a:blip r:embed="rId10"/>
          <a:stretch>
            <a:fillRect/>
          </a:stretch>
        </p:blipFill>
        <p:spPr>
          <a:xfrm>
            <a:off x="15622517" y="15128050"/>
            <a:ext cx="4270489" cy="2159869"/>
          </a:xfrm>
          <a:prstGeom prst="rect">
            <a:avLst/>
          </a:prstGeom>
        </p:spPr>
      </p:pic>
      <p:pic>
        <p:nvPicPr>
          <p:cNvPr id="67" name="Picture 66">
            <a:extLst>
              <a:ext uri="{FF2B5EF4-FFF2-40B4-BE49-F238E27FC236}">
                <a16:creationId xmlns:a16="http://schemas.microsoft.com/office/drawing/2014/main" id="{85CFCC7B-0D97-D282-8208-40FE2F5EBEA6}"/>
              </a:ext>
            </a:extLst>
          </p:cNvPr>
          <p:cNvPicPr>
            <a:picLocks noChangeAspect="1"/>
          </p:cNvPicPr>
          <p:nvPr/>
        </p:nvPicPr>
        <p:blipFill>
          <a:blip r:embed="rId11"/>
          <a:stretch>
            <a:fillRect/>
          </a:stretch>
        </p:blipFill>
        <p:spPr>
          <a:xfrm>
            <a:off x="20319525" y="10204450"/>
            <a:ext cx="4486874" cy="2831092"/>
          </a:xfrm>
          <a:prstGeom prst="rect">
            <a:avLst/>
          </a:prstGeom>
        </p:spPr>
      </p:pic>
      <p:pic>
        <p:nvPicPr>
          <p:cNvPr id="70" name="Picture 69">
            <a:extLst>
              <a:ext uri="{FF2B5EF4-FFF2-40B4-BE49-F238E27FC236}">
                <a16:creationId xmlns:a16="http://schemas.microsoft.com/office/drawing/2014/main" id="{8FFABDB3-9761-FBF7-8B3F-AF52DC3262F9}"/>
              </a:ext>
            </a:extLst>
          </p:cNvPr>
          <p:cNvPicPr>
            <a:picLocks noChangeAspect="1"/>
          </p:cNvPicPr>
          <p:nvPr/>
        </p:nvPicPr>
        <p:blipFill>
          <a:blip r:embed="rId12"/>
          <a:stretch>
            <a:fillRect/>
          </a:stretch>
        </p:blipFill>
        <p:spPr>
          <a:xfrm>
            <a:off x="20196262" y="14526856"/>
            <a:ext cx="4615877" cy="2459397"/>
          </a:xfrm>
          <a:prstGeom prst="rect">
            <a:avLst/>
          </a:prstGeom>
        </p:spPr>
      </p:pic>
      <p:sp>
        <p:nvSpPr>
          <p:cNvPr id="71" name="TextBox 70">
            <a:extLst>
              <a:ext uri="{FF2B5EF4-FFF2-40B4-BE49-F238E27FC236}">
                <a16:creationId xmlns:a16="http://schemas.microsoft.com/office/drawing/2014/main" id="{42C8789C-94BD-359D-0A72-EA0297388073}"/>
              </a:ext>
            </a:extLst>
          </p:cNvPr>
          <p:cNvSpPr txBox="1"/>
          <p:nvPr/>
        </p:nvSpPr>
        <p:spPr>
          <a:xfrm>
            <a:off x="21266570" y="16963277"/>
            <a:ext cx="2215671" cy="276999"/>
          </a:xfrm>
          <a:prstGeom prst="rect">
            <a:avLst/>
          </a:prstGeom>
          <a:noFill/>
        </p:spPr>
        <p:txBody>
          <a:bodyPr wrap="none" rtlCol="0">
            <a:spAutoFit/>
          </a:bodyPr>
          <a:lstStyle/>
          <a:p>
            <a:pPr algn="ctr"/>
            <a:r>
              <a:rPr lang="en-US" sz="1200" i="1" dirty="0" err="1">
                <a:latin typeface="Times New Roman" panose="02020603050405020304" pitchFamily="18" charset="0"/>
                <a:cs typeface="Times New Roman" panose="02020603050405020304" pitchFamily="18" charset="0"/>
              </a:rPr>
              <a:t>Hình</a:t>
            </a:r>
            <a:r>
              <a:rPr lang="en-US" sz="1200" i="1" dirty="0">
                <a:latin typeface="Times New Roman" panose="02020603050405020304" pitchFamily="18" charset="0"/>
                <a:cs typeface="Times New Roman" panose="02020603050405020304" pitchFamily="18" charset="0"/>
              </a:rPr>
              <a:t> 5: Hiển </a:t>
            </a:r>
            <a:r>
              <a:rPr lang="en-US" sz="1200" i="1" dirty="0" err="1">
                <a:latin typeface="Times New Roman" panose="02020603050405020304" pitchFamily="18" charset="0"/>
                <a:cs typeface="Times New Roman" panose="02020603050405020304" pitchFamily="18" charset="0"/>
              </a:rPr>
              <a:t>thị</a:t>
            </a:r>
            <a:r>
              <a:rPr lang="en-US" sz="1200" i="1" dirty="0">
                <a:latin typeface="Times New Roman" panose="02020603050405020304" pitchFamily="18" charset="0"/>
                <a:cs typeface="Times New Roman" panose="02020603050405020304" pitchFamily="18" charset="0"/>
              </a:rPr>
              <a:t> </a:t>
            </a:r>
            <a:r>
              <a:rPr lang="en-US" sz="1200" i="1" dirty="0" err="1">
                <a:latin typeface="Times New Roman" panose="02020603050405020304" pitchFamily="18" charset="0"/>
                <a:cs typeface="Times New Roman" panose="02020603050405020304" pitchFamily="18" charset="0"/>
              </a:rPr>
              <a:t>trên</a:t>
            </a:r>
            <a:r>
              <a:rPr lang="en-US" sz="1200" i="1" dirty="0">
                <a:latin typeface="Times New Roman" panose="02020603050405020304" pitchFamily="18" charset="0"/>
                <a:cs typeface="Times New Roman" panose="02020603050405020304" pitchFamily="18" charset="0"/>
              </a:rPr>
              <a:t> 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155CC"/>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352</TotalTime>
  <Words>1073</Words>
  <Application>Microsoft Office PowerPoint</Application>
  <PresentationFormat>Custom</PresentationFormat>
  <Paragraphs>141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Ver2_Poster.pptx</dc:title>
  <dc:creator>ADMIN</dc:creator>
  <cp:lastModifiedBy>Phan Nữ Kiều Hạnh</cp:lastModifiedBy>
  <cp:revision>4</cp:revision>
  <dcterms:created xsi:type="dcterms:W3CDTF">2026-04-27T08:25:26Z</dcterms:created>
  <dcterms:modified xsi:type="dcterms:W3CDTF">2026-05-14T15:44:51Z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2026-04-27T00:00:00Z</vt:filetime>
  </property>
  <property fmtid="{D5CDD505-2E9C-101B-9397-08002B2CF9AE}" pid="3" name="Creator">
    <vt:lpwstr>Google</vt:lpwstr>
  </property>
  <property fmtid="{D5CDD505-2E9C-101B-9397-08002B2CF9AE}" pid="4" name="LastSaved">
    <vt:filetime>2026-04-27T00:00:00Z</vt:filetime>
  </property>
</Properties>
</file>