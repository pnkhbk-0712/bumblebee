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5740975" cy="20104100"/>
  <p:notesSz cx="14224000" cy="201041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136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25" d="100"/>
          <a:sy n="25" d="100"/>
        </p:scale>
        <p:origin x="936" y="86"/>
      </p:cViewPr>
      <p:guideLst>
        <p:guide orient="horz" pos="2880"/>
        <p:guide pos="136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164263" cy="10080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8056563" y="0"/>
            <a:ext cx="6164262" cy="1008063"/>
          </a:xfrm>
          <a:prstGeom prst="rect">
            <a:avLst/>
          </a:prstGeom>
        </p:spPr>
        <p:txBody>
          <a:bodyPr vert="horz" lIns="91440" tIns="45720" rIns="91440" bIns="45720" rtlCol="0"/>
          <a:lstStyle>
            <a:lvl1pPr algn="r">
              <a:defRPr sz="1200"/>
            </a:lvl1pPr>
          </a:lstStyle>
          <a:p>
            <a:fld id="{8303DE3A-13C0-4533-8B29-19902CD2FB5A}" type="datetimeFigureOut">
              <a:rPr lang="en-US" smtClean="0"/>
              <a:t>05/15/26</a:t>
            </a:fld>
            <a:endParaRPr lang="en-US"/>
          </a:p>
        </p:txBody>
      </p:sp>
      <p:sp>
        <p:nvSpPr>
          <p:cNvPr id="4" name="Slide Image Placeholder 3"/>
          <p:cNvSpPr>
            <a:spLocks noGrp="1" noRot="1" noChangeAspect="1"/>
          </p:cNvSpPr>
          <p:nvPr>
            <p:ph type="sldImg" idx="2"/>
          </p:nvPr>
        </p:nvSpPr>
        <p:spPr>
          <a:xfrm>
            <a:off x="1081088" y="2513013"/>
            <a:ext cx="12061825" cy="6784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422400" y="9675813"/>
            <a:ext cx="11379200" cy="79152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9096038"/>
            <a:ext cx="6164263" cy="10080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8056563" y="19096038"/>
            <a:ext cx="6164262" cy="1008062"/>
          </a:xfrm>
          <a:prstGeom prst="rect">
            <a:avLst/>
          </a:prstGeom>
        </p:spPr>
        <p:txBody>
          <a:bodyPr vert="horz" lIns="91440" tIns="45720" rIns="91440" bIns="45720" rtlCol="0" anchor="b"/>
          <a:lstStyle>
            <a:lvl1pPr algn="r">
              <a:defRPr sz="1200"/>
            </a:lvl1pPr>
          </a:lstStyle>
          <a:p>
            <a:fld id="{4BF4097C-C56F-4874-9303-1CA7D4C2856E}" type="slidenum">
              <a:rPr lang="en-US" smtClean="0"/>
              <a:t>‹#›</a:t>
            </a:fld>
            <a:endParaRPr lang="en-US"/>
          </a:p>
        </p:txBody>
      </p:sp>
    </p:spTree>
    <p:extLst>
      <p:ext uri="{BB962C8B-B14F-4D97-AF65-F5344CB8AC3E}">
        <p14:creationId xmlns:p14="http://schemas.microsoft.com/office/powerpoint/2010/main" val="3932960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2513013"/>
            <a:ext cx="12061825" cy="67849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F4097C-C56F-4874-9303-1CA7D4C2856E}" type="slidenum">
              <a:rPr lang="en-US" smtClean="0"/>
              <a:t>1</a:t>
            </a:fld>
            <a:endParaRPr lang="en-US"/>
          </a:p>
        </p:txBody>
      </p:sp>
    </p:spTree>
    <p:extLst>
      <p:ext uri="{BB962C8B-B14F-4D97-AF65-F5344CB8AC3E}">
        <p14:creationId xmlns:p14="http://schemas.microsoft.com/office/powerpoint/2010/main" val="3577309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680575" y="6232273"/>
            <a:ext cx="30379828"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5361147" y="11258299"/>
            <a:ext cx="25018683"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1787049" y="4623946"/>
            <a:ext cx="15547324" cy="276999"/>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sz="half" idx="3"/>
          </p:nvPr>
        </p:nvSpPr>
        <p:spPr>
          <a:xfrm>
            <a:off x="18406602" y="4623946"/>
            <a:ext cx="15547324" cy="276999"/>
          </a:xfrm>
          <a:prstGeom prst="rect">
            <a:avLst/>
          </a:prstGeom>
        </p:spPr>
        <p:txBody>
          <a:bodyPr wrap="square" lIns="0" tIns="0" rIns="0" bIns="0">
            <a:spAutoFit/>
          </a:bodyPr>
          <a:lstStyle>
            <a:lvl1pPr>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05/15/26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extLst>
    <p:ext uri="{DCECCB84-F9BA-43D5-87BE-67443E8EF086}">
      <p15:sldGuideLst xmlns:p15="http://schemas.microsoft.com/office/powerpoint/2012/main">
        <p15:guide id="1" orient="horz" pos="6332" userDrawn="1">
          <p15:clr>
            <a:srgbClr val="FBAE40"/>
          </p15:clr>
        </p15:guide>
        <p15:guide id="2" pos="2828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3225" y="3286763"/>
            <a:ext cx="35732997" cy="16817975"/>
          </a:xfrm>
          <a:custGeom>
            <a:avLst/>
            <a:gdLst/>
            <a:ahLst/>
            <a:cxnLst/>
            <a:rect l="l" t="t" r="r" b="b"/>
            <a:pathLst>
              <a:path w="14220825" h="16817975">
                <a:moveTo>
                  <a:pt x="0" y="16817565"/>
                </a:moveTo>
                <a:lnTo>
                  <a:pt x="14220264" y="16817565"/>
                </a:lnTo>
                <a:lnTo>
                  <a:pt x="14220264" y="0"/>
                </a:lnTo>
                <a:lnTo>
                  <a:pt x="0" y="0"/>
                </a:lnTo>
                <a:lnTo>
                  <a:pt x="0" y="16817565"/>
                </a:lnTo>
                <a:close/>
              </a:path>
            </a:pathLst>
          </a:custGeom>
          <a:solidFill>
            <a:srgbClr val="BEBEBE"/>
          </a:solidFill>
        </p:spPr>
        <p:txBody>
          <a:bodyPr wrap="square" lIns="0" tIns="0" rIns="0" bIns="0" rtlCol="0"/>
          <a:lstStyle/>
          <a:p>
            <a:endParaRPr/>
          </a:p>
        </p:txBody>
      </p:sp>
      <p:sp>
        <p:nvSpPr>
          <p:cNvPr id="17" name="bg object 17"/>
          <p:cNvSpPr/>
          <p:nvPr/>
        </p:nvSpPr>
        <p:spPr>
          <a:xfrm>
            <a:off x="0" y="0"/>
            <a:ext cx="35736186" cy="3286760"/>
          </a:xfrm>
          <a:custGeom>
            <a:avLst/>
            <a:gdLst/>
            <a:ahLst/>
            <a:cxnLst/>
            <a:rect l="l" t="t" r="r" b="b"/>
            <a:pathLst>
              <a:path w="14222094" h="3286760">
                <a:moveTo>
                  <a:pt x="14221756" y="3286534"/>
                </a:moveTo>
                <a:lnTo>
                  <a:pt x="0" y="3286534"/>
                </a:lnTo>
                <a:lnTo>
                  <a:pt x="0" y="0"/>
                </a:lnTo>
                <a:lnTo>
                  <a:pt x="14221756" y="0"/>
                </a:lnTo>
                <a:lnTo>
                  <a:pt x="14221756" y="3286534"/>
                </a:lnTo>
                <a:close/>
              </a:path>
            </a:pathLst>
          </a:custGeom>
          <a:solidFill>
            <a:srgbClr val="7B131A"/>
          </a:solidFill>
        </p:spPr>
        <p:txBody>
          <a:bodyPr wrap="square" lIns="0" tIns="0" rIns="0" bIns="0" rtlCol="0"/>
          <a:lstStyle/>
          <a:p>
            <a:endParaRPr/>
          </a:p>
        </p:txBody>
      </p:sp>
      <p:sp>
        <p:nvSpPr>
          <p:cNvPr id="2" name="Holder 2"/>
          <p:cNvSpPr>
            <a:spLocks noGrp="1"/>
          </p:cNvSpPr>
          <p:nvPr>
            <p:ph type="title"/>
          </p:nvPr>
        </p:nvSpPr>
        <p:spPr>
          <a:xfrm>
            <a:off x="1787049" y="804166"/>
            <a:ext cx="32166879"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14296389" y="5061283"/>
            <a:ext cx="32166879"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2151932" y="18696817"/>
            <a:ext cx="1143711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787049" y="18696817"/>
            <a:ext cx="8220425"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05/15/26</a:t>
            </a:fld>
            <a:endParaRPr lang="en-US"/>
          </a:p>
        </p:txBody>
      </p:sp>
      <p:sp>
        <p:nvSpPr>
          <p:cNvPr id="6" name="Holder 6"/>
          <p:cNvSpPr>
            <a:spLocks noGrp="1"/>
          </p:cNvSpPr>
          <p:nvPr>
            <p:ph type="sldNum" sz="quarter" idx="7"/>
          </p:nvPr>
        </p:nvSpPr>
        <p:spPr>
          <a:xfrm>
            <a:off x="25733501" y="18696817"/>
            <a:ext cx="8220425"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6332" userDrawn="1">
          <p15:clr>
            <a:srgbClr val="F26B43"/>
          </p15:clr>
        </p15:guide>
        <p15:guide id="2" pos="2828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617919-F33C-5185-1E0E-94CD05DC520D}"/>
              </a:ext>
            </a:extLst>
          </p:cNvPr>
          <p:cNvSpPr/>
          <p:nvPr/>
        </p:nvSpPr>
        <p:spPr>
          <a:xfrm>
            <a:off x="25007695" y="15386841"/>
            <a:ext cx="10811417" cy="19013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DDA505E2-5315-1372-F522-4506914647BF}"/>
              </a:ext>
            </a:extLst>
          </p:cNvPr>
          <p:cNvSpPr/>
          <p:nvPr/>
        </p:nvSpPr>
        <p:spPr>
          <a:xfrm>
            <a:off x="9622405" y="11678000"/>
            <a:ext cx="15206545" cy="80408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pic>
        <p:nvPicPr>
          <p:cNvPr id="9" name="object 9"/>
          <p:cNvPicPr/>
          <p:nvPr/>
        </p:nvPicPr>
        <p:blipFill>
          <a:blip r:embed="rId3" cstate="print"/>
          <a:stretch>
            <a:fillRect/>
          </a:stretch>
        </p:blipFill>
        <p:spPr>
          <a:xfrm>
            <a:off x="32664433" y="1759487"/>
            <a:ext cx="2678805" cy="1893994"/>
          </a:xfrm>
          <a:prstGeom prst="rect">
            <a:avLst/>
          </a:prstGeom>
        </p:spPr>
      </p:pic>
      <p:sp>
        <p:nvSpPr>
          <p:cNvPr id="48" name="object 48"/>
          <p:cNvSpPr txBox="1"/>
          <p:nvPr/>
        </p:nvSpPr>
        <p:spPr>
          <a:xfrm>
            <a:off x="446577" y="175958"/>
            <a:ext cx="25414531" cy="2941190"/>
          </a:xfrm>
          <a:prstGeom prst="rect">
            <a:avLst/>
          </a:prstGeom>
        </p:spPr>
        <p:txBody>
          <a:bodyPr vert="horz" wrap="square" lIns="0" tIns="12065" rIns="0" bIns="0" rtlCol="0">
            <a:spAutoFit/>
          </a:bodyPr>
          <a:lstStyle/>
          <a:p>
            <a:pPr marL="12700">
              <a:spcBef>
                <a:spcPts val="1095"/>
              </a:spcBef>
            </a:pPr>
            <a:r>
              <a:rPr lang="en-US" sz="5400" dirty="0">
                <a:solidFill>
                  <a:schemeClr val="bg1"/>
                </a:solidFill>
                <a:latin typeface="Times New Roman" panose="02020603050405020304" pitchFamily="18" charset="0"/>
                <a:cs typeface="Times New Roman" panose="02020603050405020304" pitchFamily="18" charset="0"/>
              </a:rPr>
              <a:t>HỆ THỐNG GIÁM SÁT ONG MẬT THÔNG MINH ỨNG DỤNG CÔNG NGHỆ IOT VÀ TRÍ TUỆ NHÂN TẠO</a:t>
            </a:r>
          </a:p>
          <a:p>
            <a:pPr marL="12700">
              <a:spcBef>
                <a:spcPts val="1095"/>
              </a:spcBef>
            </a:pPr>
            <a:r>
              <a:rPr lang="vi-VN" sz="3200" dirty="0">
                <a:solidFill>
                  <a:schemeClr val="bg1"/>
                </a:solidFill>
                <a:latin typeface="Times New Roman" panose="02020603050405020304" pitchFamily="18" charset="0"/>
                <a:cs typeface="Times New Roman" panose="02020603050405020304" pitchFamily="18" charset="0"/>
              </a:rPr>
              <a:t>SVTH: Phan Nữ Kiều Hạnh, Đoàn Minh Hiếu, Nguyễn Minh Hoàng, Đỗ Lâm Khánh, Đặng Phan Khánh Hoàng</a:t>
            </a:r>
          </a:p>
          <a:p>
            <a:pPr marL="12700">
              <a:spcBef>
                <a:spcPts val="1095"/>
              </a:spcBef>
            </a:pPr>
            <a:r>
              <a:rPr lang="vi-VN" sz="3200" dirty="0">
                <a:solidFill>
                  <a:schemeClr val="bg1"/>
                </a:solidFill>
                <a:latin typeface="Times New Roman" panose="02020603050405020304" pitchFamily="18" charset="0"/>
                <a:cs typeface="Times New Roman" panose="02020603050405020304" pitchFamily="18" charset="0"/>
              </a:rPr>
              <a:t>GVHD: TS. Nguyễn Thị Anh Thư - Khoa Khoa học Công nghệ Tiên tiến, Trường Đại học Bách Khoa Đà Nẵng</a:t>
            </a:r>
          </a:p>
        </p:txBody>
      </p:sp>
      <p:grpSp>
        <p:nvGrpSpPr>
          <p:cNvPr id="34" name="Group 33">
            <a:extLst>
              <a:ext uri="{FF2B5EF4-FFF2-40B4-BE49-F238E27FC236}">
                <a16:creationId xmlns:a16="http://schemas.microsoft.com/office/drawing/2014/main" id="{0067887F-413B-55A2-EC6D-FC4070244835}"/>
              </a:ext>
            </a:extLst>
          </p:cNvPr>
          <p:cNvGrpSpPr/>
          <p:nvPr/>
        </p:nvGrpSpPr>
        <p:grpSpPr>
          <a:xfrm>
            <a:off x="25033397" y="9867895"/>
            <a:ext cx="10755661" cy="5546945"/>
            <a:chOff x="18006115" y="17367380"/>
            <a:chExt cx="6855462" cy="2776079"/>
          </a:xfrm>
        </p:grpSpPr>
        <p:sp>
          <p:nvSpPr>
            <p:cNvPr id="12" name="object 12"/>
            <p:cNvSpPr/>
            <p:nvPr/>
          </p:nvSpPr>
          <p:spPr>
            <a:xfrm>
              <a:off x="18006115" y="17776825"/>
              <a:ext cx="6847840" cy="2214880"/>
            </a:xfrm>
            <a:custGeom>
              <a:avLst/>
              <a:gdLst/>
              <a:ahLst/>
              <a:cxnLst/>
              <a:rect l="l" t="t" r="r" b="b"/>
              <a:pathLst>
                <a:path w="6847840" h="2214880">
                  <a:moveTo>
                    <a:pt x="6847638" y="2214367"/>
                  </a:moveTo>
                  <a:lnTo>
                    <a:pt x="0" y="2214367"/>
                  </a:lnTo>
                  <a:lnTo>
                    <a:pt x="0" y="0"/>
                  </a:lnTo>
                  <a:lnTo>
                    <a:pt x="6847638" y="0"/>
                  </a:lnTo>
                  <a:lnTo>
                    <a:pt x="6847638" y="2214367"/>
                  </a:lnTo>
                  <a:close/>
                </a:path>
              </a:pathLst>
            </a:custGeom>
            <a:solidFill>
              <a:srgbClr val="FFFFFF"/>
            </a:solidFill>
          </p:spPr>
          <p:txBody>
            <a:bodyPr wrap="square" lIns="0" tIns="0" rIns="0" bIns="0" rtlCol="0"/>
            <a:lstStyle/>
            <a:p>
              <a:endParaRPr sz="2800"/>
            </a:p>
          </p:txBody>
        </p:sp>
        <p:sp>
          <p:nvSpPr>
            <p:cNvPr id="13" name="object 13"/>
            <p:cNvSpPr txBox="1"/>
            <p:nvPr/>
          </p:nvSpPr>
          <p:spPr>
            <a:xfrm>
              <a:off x="18066565" y="17727068"/>
              <a:ext cx="6703695" cy="2416391"/>
            </a:xfrm>
            <a:prstGeom prst="rect">
              <a:avLst/>
            </a:prstGeom>
          </p:spPr>
          <p:txBody>
            <a:bodyPr vert="horz" wrap="square" lIns="0" tIns="87630" rIns="0" bIns="0" rtlCol="0">
              <a:spAutoFit/>
            </a:bodyPr>
            <a:lstStyle/>
            <a:p>
              <a:r>
                <a:rPr lang="vi-VN" sz="2200" dirty="0">
                  <a:latin typeface="Times New Roman" panose="02020603050405020304" pitchFamily="18" charset="0"/>
                  <a:cs typeface="Times New Roman" panose="02020603050405020304" pitchFamily="18" charset="0"/>
                </a:rPr>
                <a:t>Dự án đã xây dựng thành công hệ thống giám sát tổ ong ứng dụng IoT và Edge AI, hỗ trợ theo dõi nhiệt độ, độ ẩm, trọng lượng và âm thanh đàn ong theo thời gian thực. Hệ thống được thử nghiệm trên mô hình nuôi ong Langstroth trong thời gian 2 tháng</a:t>
              </a:r>
              <a:r>
                <a:rPr lang="en-US" sz="2200" dirty="0">
                  <a:latin typeface="Times New Roman" panose="02020603050405020304" pitchFamily="18" charset="0"/>
                  <a:cs typeface="Times New Roman" panose="02020603050405020304" pitchFamily="18" charset="0"/>
                </a:rPr>
                <a:t>. </a:t>
              </a:r>
            </a:p>
            <a:p>
              <a:r>
                <a:rPr lang="vi-VN" sz="2200" dirty="0">
                  <a:solidFill>
                    <a:srgbClr val="FF0000"/>
                  </a:solidFill>
                  <a:latin typeface="Times New Roman" panose="02020603050405020304" pitchFamily="18" charset="0"/>
                  <a:cs typeface="Times New Roman" panose="02020603050405020304" pitchFamily="18" charset="0"/>
                </a:rPr>
                <a:t>Kết quả thực nghiệm cho thấy hệ thống đạt độ chính xác tổng quát khoảng </a:t>
              </a:r>
              <a:r>
                <a:rPr lang="vi-VN" sz="2200" b="1" dirty="0">
                  <a:solidFill>
                    <a:srgbClr val="FF0000"/>
                  </a:solidFill>
                  <a:latin typeface="Times New Roman" panose="02020603050405020304" pitchFamily="18" charset="0"/>
                  <a:cs typeface="Times New Roman" panose="02020603050405020304" pitchFamily="18" charset="0"/>
                </a:rPr>
                <a:t>93–95%</a:t>
              </a:r>
              <a:r>
                <a:rPr lang="vi-VN" sz="2200" dirty="0">
                  <a:solidFill>
                    <a:srgbClr val="FF0000"/>
                  </a:solidFill>
                  <a:latin typeface="Times New Roman" panose="02020603050405020304" pitchFamily="18" charset="0"/>
                  <a:cs typeface="Times New Roman" panose="02020603050405020304" pitchFamily="18" charset="0"/>
                </a:rPr>
                <a:t> </a:t>
              </a:r>
              <a:r>
                <a:rPr lang="vi-VN" sz="2200" dirty="0">
                  <a:latin typeface="Times New Roman" panose="02020603050405020304" pitchFamily="18" charset="0"/>
                  <a:cs typeface="Times New Roman" panose="02020603050405020304" pitchFamily="18" charset="0"/>
                </a:rPr>
                <a:t>đối với các chức năng giám sát và nhận diện AI, đồng thời duy trì khả năng truyền dữ liệu ổn định qua nền tảng IoT. </a:t>
              </a:r>
              <a:endParaRPr lang="en-US" sz="2200" dirty="0">
                <a:latin typeface="Times New Roman" panose="02020603050405020304" pitchFamily="18" charset="0"/>
                <a:cs typeface="Times New Roman" panose="02020603050405020304" pitchFamily="18" charset="0"/>
              </a:endParaRPr>
            </a:p>
            <a:p>
              <a:r>
                <a:rPr lang="vi-VN" sz="2200" dirty="0">
                  <a:latin typeface="Times New Roman" panose="02020603050405020304" pitchFamily="18" charset="0"/>
                  <a:cs typeface="Times New Roman" panose="02020603050405020304" pitchFamily="18" charset="0"/>
                </a:rPr>
                <a:t>Tuy nhiên, do thời điểm thực hiện chưa trùng với mùa ong mật chính tại Việt Nam (tháng 2 – tháng 5), nhóm chưa có điều kiện triển khai trên quy mô hộ nuôi hoặc doanh nghiệp thực tế.</a:t>
              </a:r>
            </a:p>
            <a:p>
              <a:r>
                <a:rPr lang="vi-VN" sz="2200" b="1" dirty="0">
                  <a:solidFill>
                    <a:srgbClr val="FF0000"/>
                  </a:solidFill>
                  <a:latin typeface="Times New Roman" panose="02020603050405020304" pitchFamily="18" charset="0"/>
                  <a:cs typeface="Times New Roman" panose="02020603050405020304" pitchFamily="18" charset="0"/>
                </a:rPr>
                <a:t>Hướng phát triển:</a:t>
              </a:r>
              <a:endParaRPr lang="vi-VN" sz="22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200" dirty="0">
                  <a:latin typeface="Times New Roman" panose="02020603050405020304" pitchFamily="18" charset="0"/>
                  <a:cs typeface="Times New Roman" panose="02020603050405020304" pitchFamily="18" charset="0"/>
                </a:rPr>
                <a:t>Triển khai thử nghiệm thực tế vào mùa ong chính và mùa hè – thu. </a:t>
              </a:r>
            </a:p>
            <a:p>
              <a:pPr marL="342900" indent="-342900">
                <a:buFont typeface="Arial" panose="020B0604020202020204" pitchFamily="34" charset="0"/>
                <a:buChar char="•"/>
              </a:pPr>
              <a:r>
                <a:rPr lang="vi-VN" sz="2200" dirty="0">
                  <a:latin typeface="Times New Roman" panose="02020603050405020304" pitchFamily="18" charset="0"/>
                  <a:cs typeface="Times New Roman" panose="02020603050405020304" pitchFamily="18" charset="0"/>
                </a:rPr>
                <a:t>Mở rộng tập dữ liệu âm thanh ong nội địa để tăng độ chính xác AI. </a:t>
              </a:r>
            </a:p>
            <a:p>
              <a:pPr marL="342900" indent="-342900">
                <a:buFont typeface="Arial" panose="020B0604020202020204" pitchFamily="34" charset="0"/>
                <a:buChar char="•"/>
              </a:pPr>
              <a:r>
                <a:rPr lang="vi-VN" sz="2200" dirty="0">
                  <a:latin typeface="Times New Roman" panose="02020603050405020304" pitchFamily="18" charset="0"/>
                  <a:cs typeface="Times New Roman" panose="02020603050405020304" pitchFamily="18" charset="0"/>
                </a:rPr>
                <a:t>Phát triển tính năng nhận diện thiên địch và cảnh báo rủi ro đàn ong. </a:t>
              </a:r>
            </a:p>
            <a:p>
              <a:pPr marL="342900" indent="-342900">
                <a:buFont typeface="Arial" panose="020B0604020202020204" pitchFamily="34" charset="0"/>
                <a:buChar char="•"/>
              </a:pPr>
              <a:r>
                <a:rPr lang="vi-VN" sz="2200" dirty="0">
                  <a:latin typeface="Times New Roman" panose="02020603050405020304" pitchFamily="18" charset="0"/>
                  <a:cs typeface="Times New Roman" panose="02020603050405020304" pitchFamily="18" charset="0"/>
                </a:rPr>
                <a:t>Tối ưu năng lượng và khả năng hoạt động dài hạn ngoài thực địa.</a:t>
              </a:r>
            </a:p>
            <a:p>
              <a:r>
                <a:rPr lang="vi-VN" sz="2200" dirty="0">
                  <a:latin typeface="Times New Roman" panose="02020603050405020304" pitchFamily="18" charset="0"/>
                  <a:cs typeface="Times New Roman" panose="02020603050405020304" pitchFamily="18" charset="0"/>
                </a:rPr>
                <a:t>.</a:t>
              </a:r>
            </a:p>
          </p:txBody>
        </p:sp>
        <p:sp>
          <p:nvSpPr>
            <p:cNvPr id="57" name="object 57"/>
            <p:cNvSpPr/>
            <p:nvPr/>
          </p:nvSpPr>
          <p:spPr>
            <a:xfrm>
              <a:off x="18006118" y="17378349"/>
              <a:ext cx="6855459" cy="347345"/>
            </a:xfrm>
            <a:custGeom>
              <a:avLst/>
              <a:gdLst/>
              <a:ahLst/>
              <a:cxnLst/>
              <a:rect l="l" t="t" r="r" b="b"/>
              <a:pathLst>
                <a:path w="6855459" h="347344">
                  <a:moveTo>
                    <a:pt x="6855391" y="347188"/>
                  </a:moveTo>
                  <a:lnTo>
                    <a:pt x="0" y="347188"/>
                  </a:lnTo>
                  <a:lnTo>
                    <a:pt x="0" y="0"/>
                  </a:lnTo>
                  <a:lnTo>
                    <a:pt x="6855391" y="0"/>
                  </a:lnTo>
                  <a:lnTo>
                    <a:pt x="6855391" y="347188"/>
                  </a:lnTo>
                  <a:close/>
                </a:path>
              </a:pathLst>
            </a:custGeom>
            <a:solidFill>
              <a:srgbClr val="7B131A"/>
            </a:solidFill>
          </p:spPr>
          <p:txBody>
            <a:bodyPr wrap="square" lIns="0" tIns="0" rIns="0" bIns="0" rtlCol="0"/>
            <a:lstStyle/>
            <a:p>
              <a:endParaRPr sz="2800"/>
            </a:p>
          </p:txBody>
        </p:sp>
        <p:sp>
          <p:nvSpPr>
            <p:cNvPr id="58" name="object 58"/>
            <p:cNvSpPr txBox="1"/>
            <p:nvPr/>
          </p:nvSpPr>
          <p:spPr>
            <a:xfrm>
              <a:off x="19743575" y="17367380"/>
              <a:ext cx="3378835" cy="275673"/>
            </a:xfrm>
            <a:prstGeom prst="rect">
              <a:avLst/>
            </a:prstGeom>
          </p:spPr>
          <p:txBody>
            <a:bodyPr vert="horz" wrap="square" lIns="0" tIns="14605" rIns="0" bIns="0" rtlCol="0">
              <a:spAutoFit/>
            </a:bodyPr>
            <a:lstStyle/>
            <a:p>
              <a:pPr marL="12700">
                <a:spcBef>
                  <a:spcPts val="115"/>
                </a:spcBef>
              </a:pPr>
              <a:r>
                <a:rPr lang="en-US" sz="3200" err="1">
                  <a:solidFill>
                    <a:schemeClr val="bg1"/>
                  </a:solidFill>
                  <a:latin typeface="Times New Roman"/>
                  <a:cs typeface="Times New Roman"/>
                </a:rPr>
                <a:t>Kết</a:t>
              </a:r>
              <a:r>
                <a:rPr lang="en-US" sz="3200">
                  <a:solidFill>
                    <a:schemeClr val="bg1"/>
                  </a:solidFill>
                  <a:latin typeface="Times New Roman"/>
                  <a:cs typeface="Times New Roman"/>
                </a:rPr>
                <a:t> </a:t>
              </a:r>
              <a:r>
                <a:rPr lang="en-US" sz="3200" err="1">
                  <a:solidFill>
                    <a:schemeClr val="bg1"/>
                  </a:solidFill>
                  <a:latin typeface="Times New Roman"/>
                  <a:cs typeface="Times New Roman"/>
                </a:rPr>
                <a:t>luận</a:t>
              </a:r>
              <a:r>
                <a:rPr lang="en-US" sz="3200">
                  <a:solidFill>
                    <a:schemeClr val="bg1"/>
                  </a:solidFill>
                  <a:latin typeface="Times New Roman"/>
                  <a:cs typeface="Times New Roman"/>
                </a:rPr>
                <a:t> </a:t>
              </a:r>
              <a:r>
                <a:rPr lang="en-US" sz="3200" err="1">
                  <a:solidFill>
                    <a:schemeClr val="bg1"/>
                  </a:solidFill>
                  <a:latin typeface="Times New Roman"/>
                  <a:cs typeface="Times New Roman"/>
                </a:rPr>
                <a:t>và</a:t>
              </a:r>
              <a:r>
                <a:rPr lang="en-US" sz="3200">
                  <a:solidFill>
                    <a:schemeClr val="bg1"/>
                  </a:solidFill>
                  <a:latin typeface="Times New Roman"/>
                  <a:cs typeface="Times New Roman"/>
                </a:rPr>
                <a:t> </a:t>
              </a:r>
              <a:r>
                <a:rPr lang="en-US" sz="3200" err="1">
                  <a:solidFill>
                    <a:schemeClr val="bg1"/>
                  </a:solidFill>
                  <a:latin typeface="Times New Roman"/>
                  <a:cs typeface="Times New Roman"/>
                </a:rPr>
                <a:t>hướng</a:t>
              </a:r>
              <a:r>
                <a:rPr lang="en-US" sz="3200">
                  <a:solidFill>
                    <a:schemeClr val="bg1"/>
                  </a:solidFill>
                  <a:latin typeface="Times New Roman"/>
                  <a:cs typeface="Times New Roman"/>
                </a:rPr>
                <a:t> </a:t>
              </a:r>
              <a:r>
                <a:rPr lang="en-US" sz="3200" err="1">
                  <a:solidFill>
                    <a:schemeClr val="bg1"/>
                  </a:solidFill>
                  <a:latin typeface="Times New Roman"/>
                  <a:cs typeface="Times New Roman"/>
                </a:rPr>
                <a:t>phát</a:t>
              </a:r>
              <a:r>
                <a:rPr lang="en-US" sz="3200">
                  <a:solidFill>
                    <a:schemeClr val="bg1"/>
                  </a:solidFill>
                  <a:latin typeface="Times New Roman"/>
                  <a:cs typeface="Times New Roman"/>
                </a:rPr>
                <a:t> </a:t>
              </a:r>
              <a:r>
                <a:rPr lang="en-US" sz="3200" err="1">
                  <a:solidFill>
                    <a:schemeClr val="bg1"/>
                  </a:solidFill>
                  <a:latin typeface="Times New Roman"/>
                  <a:cs typeface="Times New Roman"/>
                </a:rPr>
                <a:t>triển</a:t>
              </a:r>
              <a:endParaRPr lang="en-US" sz="3200">
                <a:solidFill>
                  <a:schemeClr val="bg1"/>
                </a:solidFill>
                <a:latin typeface="Times New Roman"/>
                <a:cs typeface="Times New Roman"/>
              </a:endParaRPr>
            </a:p>
          </p:txBody>
        </p:sp>
      </p:grpSp>
      <p:sp>
        <p:nvSpPr>
          <p:cNvPr id="65" name="Rectangle 1">
            <a:extLst>
              <a:ext uri="{FF2B5EF4-FFF2-40B4-BE49-F238E27FC236}">
                <a16:creationId xmlns:a16="http://schemas.microsoft.com/office/drawing/2014/main" id="{2466513E-C665-604E-6C6B-37299A124598}"/>
              </a:ext>
            </a:extLst>
          </p:cNvPr>
          <p:cNvSpPr>
            <a:spLocks noChangeArrowheads="1"/>
          </p:cNvSpPr>
          <p:nvPr/>
        </p:nvSpPr>
        <p:spPr bwMode="auto">
          <a:xfrm>
            <a:off x="13140168" y="-454334"/>
            <a:ext cx="4239999" cy="5747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altLang="en-US" sz="1050">
              <a:solidFill>
                <a:schemeClr val="tx1"/>
              </a:solidFill>
              <a:latin typeface="Times New Roman" panose="02020603050405020304" pitchFamily="18" charset="0"/>
              <a:cs typeface="Times New Roman" panose="02020603050405020304" pitchFamily="18" charset="0"/>
            </a:endParaRPr>
          </a:p>
        </p:txBody>
      </p:sp>
      <p:pic>
        <p:nvPicPr>
          <p:cNvPr id="1031" name="Picture 7" descr="Trường Đại học Bách khoa - Đại học Đà Nẵng &gt; Tintuc &gt; Tintuc">
            <a:extLst>
              <a:ext uri="{FF2B5EF4-FFF2-40B4-BE49-F238E27FC236}">
                <a16:creationId xmlns:a16="http://schemas.microsoft.com/office/drawing/2014/main" id="{4FDAD6ED-081D-87FB-177E-26E6E25393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68242" y="318357"/>
            <a:ext cx="1827574" cy="1827574"/>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Group 35">
            <a:extLst>
              <a:ext uri="{FF2B5EF4-FFF2-40B4-BE49-F238E27FC236}">
                <a16:creationId xmlns:a16="http://schemas.microsoft.com/office/drawing/2014/main" id="{603CA54B-BB03-00AA-A95E-AC5AA5EA8565}"/>
              </a:ext>
            </a:extLst>
          </p:cNvPr>
          <p:cNvGrpSpPr/>
          <p:nvPr/>
        </p:nvGrpSpPr>
        <p:grpSpPr>
          <a:xfrm>
            <a:off x="24972220" y="15187309"/>
            <a:ext cx="10846892" cy="2048478"/>
            <a:chOff x="10872415" y="17367380"/>
            <a:chExt cx="7038546" cy="1454835"/>
          </a:xfrm>
        </p:grpSpPr>
        <p:sp>
          <p:nvSpPr>
            <p:cNvPr id="52" name="object 52"/>
            <p:cNvSpPr/>
            <p:nvPr/>
          </p:nvSpPr>
          <p:spPr>
            <a:xfrm>
              <a:off x="10892612" y="17378349"/>
              <a:ext cx="7018349" cy="347345"/>
            </a:xfrm>
            <a:custGeom>
              <a:avLst/>
              <a:gdLst/>
              <a:ahLst/>
              <a:cxnLst/>
              <a:rect l="l" t="t" r="r" b="b"/>
              <a:pathLst>
                <a:path w="6878320" h="347344">
                  <a:moveTo>
                    <a:pt x="6878226" y="347188"/>
                  </a:moveTo>
                  <a:lnTo>
                    <a:pt x="0" y="347188"/>
                  </a:lnTo>
                  <a:lnTo>
                    <a:pt x="0" y="0"/>
                  </a:lnTo>
                  <a:lnTo>
                    <a:pt x="6878226" y="0"/>
                  </a:lnTo>
                  <a:lnTo>
                    <a:pt x="6878226" y="347188"/>
                  </a:lnTo>
                  <a:close/>
                </a:path>
              </a:pathLst>
            </a:custGeom>
            <a:solidFill>
              <a:srgbClr val="7B131A"/>
            </a:solidFill>
          </p:spPr>
          <p:txBody>
            <a:bodyPr wrap="square" lIns="0" tIns="0" rIns="0" bIns="0" rtlCol="0"/>
            <a:lstStyle/>
            <a:p>
              <a:endParaRPr sz="2800"/>
            </a:p>
          </p:txBody>
        </p:sp>
        <p:sp>
          <p:nvSpPr>
            <p:cNvPr id="53" name="object 53"/>
            <p:cNvSpPr txBox="1"/>
            <p:nvPr/>
          </p:nvSpPr>
          <p:spPr>
            <a:xfrm>
              <a:off x="13319503" y="17367380"/>
              <a:ext cx="2025014" cy="360207"/>
            </a:xfrm>
            <a:prstGeom prst="rect">
              <a:avLst/>
            </a:prstGeom>
          </p:spPr>
          <p:txBody>
            <a:bodyPr vert="horz" wrap="square" lIns="0" tIns="14605" rIns="0" bIns="0" rtlCol="0">
              <a:spAutoFit/>
            </a:bodyPr>
            <a:lstStyle/>
            <a:p>
              <a:pPr marL="12700">
                <a:spcBef>
                  <a:spcPts val="115"/>
                </a:spcBef>
              </a:pPr>
              <a:r>
                <a:rPr lang="en-US" sz="3200" b="1" err="1">
                  <a:solidFill>
                    <a:schemeClr val="bg1"/>
                  </a:solidFill>
                  <a:latin typeface="Times New Roman"/>
                  <a:cs typeface="Times New Roman"/>
                </a:rPr>
                <a:t>Lời</a:t>
              </a:r>
              <a:r>
                <a:rPr lang="en-US" sz="3200" b="1">
                  <a:solidFill>
                    <a:schemeClr val="bg1"/>
                  </a:solidFill>
                  <a:latin typeface="Times New Roman"/>
                  <a:cs typeface="Times New Roman"/>
                </a:rPr>
                <a:t> </a:t>
              </a:r>
              <a:r>
                <a:rPr lang="en-US" sz="3200" b="1" err="1">
                  <a:solidFill>
                    <a:schemeClr val="bg1"/>
                  </a:solidFill>
                  <a:latin typeface="Times New Roman"/>
                  <a:cs typeface="Times New Roman"/>
                </a:rPr>
                <a:t>cảm</a:t>
              </a:r>
              <a:r>
                <a:rPr lang="en-US" sz="3200" b="1">
                  <a:solidFill>
                    <a:schemeClr val="bg1"/>
                  </a:solidFill>
                  <a:latin typeface="Times New Roman"/>
                  <a:cs typeface="Times New Roman"/>
                </a:rPr>
                <a:t> </a:t>
              </a:r>
              <a:r>
                <a:rPr lang="en-US" sz="3200" b="1" err="1">
                  <a:solidFill>
                    <a:schemeClr val="bg1"/>
                  </a:solidFill>
                  <a:latin typeface="Times New Roman"/>
                  <a:cs typeface="Times New Roman"/>
                </a:rPr>
                <a:t>ơn</a:t>
              </a:r>
              <a:endParaRPr lang="en-US" sz="3200" b="1">
                <a:solidFill>
                  <a:schemeClr val="bg1"/>
                </a:solidFill>
                <a:latin typeface="Times New Roman"/>
                <a:cs typeface="Times New Roman"/>
              </a:endParaRPr>
            </a:p>
          </p:txBody>
        </p:sp>
        <p:sp>
          <p:nvSpPr>
            <p:cNvPr id="85" name="TextBox 84">
              <a:extLst>
                <a:ext uri="{FF2B5EF4-FFF2-40B4-BE49-F238E27FC236}">
                  <a16:creationId xmlns:a16="http://schemas.microsoft.com/office/drawing/2014/main" id="{68CF1AEE-2AE1-D9DD-FB25-E19E065E8FEA}"/>
                </a:ext>
              </a:extLst>
            </p:cNvPr>
            <p:cNvSpPr txBox="1"/>
            <p:nvPr/>
          </p:nvSpPr>
          <p:spPr>
            <a:xfrm>
              <a:off x="10872415" y="17751155"/>
              <a:ext cx="7023195" cy="1071060"/>
            </a:xfrm>
            <a:prstGeom prst="rect">
              <a:avLst/>
            </a:prstGeom>
            <a:noFill/>
          </p:spPr>
          <p:txBody>
            <a:bodyPr wrap="square" rtlCol="0">
              <a:spAutoFit/>
            </a:bodyPr>
            <a:lstStyle/>
            <a:p>
              <a:pPr algn="just"/>
              <a:r>
                <a:rPr lang="vi-VN" sz="2300" dirty="0">
                  <a:latin typeface="Times New Roman" panose="02020603050405020304" pitchFamily="18" charset="0"/>
                  <a:cs typeface="Times New Roman" panose="02020603050405020304" pitchFamily="18" charset="0"/>
                </a:rPr>
                <a:t>Nhóm tác giả xin chân thành cảm ơn TS. Nguyễn Thị Anh Thư và ThS. Nguyễn Huỳnh Nhật Thương đã tận tình định hướng, hỗ trợ chuyên môn xuyên suốt đề tài. Đồng thời, xin trân trọng cảm ơn Khoa Khoa học Công nghệ Tiên tiến – Trường Đại học Bách khoa, Đại học Đà Nẵng đã tạo điều kiện cơ sở vật chất tốt nhất để nhóm hoàn thành dự án này</a:t>
              </a:r>
              <a:r>
                <a:rPr lang="en-US" sz="2300" dirty="0">
                  <a:latin typeface="Times New Roman" panose="02020603050405020304" pitchFamily="18" charset="0"/>
                  <a:cs typeface="Times New Roman" panose="02020603050405020304" pitchFamily="18" charset="0"/>
                </a:rPr>
                <a:t>.</a:t>
              </a:r>
            </a:p>
          </p:txBody>
        </p:sp>
      </p:grpSp>
      <p:sp>
        <p:nvSpPr>
          <p:cNvPr id="2" name="object 6">
            <a:extLst>
              <a:ext uri="{FF2B5EF4-FFF2-40B4-BE49-F238E27FC236}">
                <a16:creationId xmlns:a16="http://schemas.microsoft.com/office/drawing/2014/main" id="{2F1CD2F5-68FD-4385-CAFA-C7A9D57CC286}"/>
              </a:ext>
            </a:extLst>
          </p:cNvPr>
          <p:cNvSpPr/>
          <p:nvPr/>
        </p:nvSpPr>
        <p:spPr>
          <a:xfrm>
            <a:off x="521620" y="13277778"/>
            <a:ext cx="8705332" cy="507191"/>
          </a:xfrm>
          <a:custGeom>
            <a:avLst/>
            <a:gdLst/>
            <a:ahLst/>
            <a:cxnLst/>
            <a:rect l="l" t="t" r="r" b="b"/>
            <a:pathLst>
              <a:path w="4344670" h="428625">
                <a:moveTo>
                  <a:pt x="4344440" y="428100"/>
                </a:moveTo>
                <a:lnTo>
                  <a:pt x="0" y="428100"/>
                </a:lnTo>
                <a:lnTo>
                  <a:pt x="0" y="0"/>
                </a:lnTo>
                <a:lnTo>
                  <a:pt x="4344440" y="0"/>
                </a:lnTo>
                <a:lnTo>
                  <a:pt x="4344440" y="428100"/>
                </a:lnTo>
                <a:close/>
              </a:path>
            </a:pathLst>
          </a:custGeom>
          <a:solidFill>
            <a:srgbClr val="7B131A"/>
          </a:solidFill>
        </p:spPr>
        <p:txBody>
          <a:bodyPr wrap="square" lIns="0" tIns="0" rIns="0" bIns="0" rtlCol="0"/>
          <a:lstStyle/>
          <a:p>
            <a:endParaRPr sz="3200" dirty="0"/>
          </a:p>
        </p:txBody>
      </p:sp>
      <p:sp>
        <p:nvSpPr>
          <p:cNvPr id="3" name="object 3"/>
          <p:cNvSpPr/>
          <p:nvPr/>
        </p:nvSpPr>
        <p:spPr>
          <a:xfrm>
            <a:off x="676170" y="4033926"/>
            <a:ext cx="8500053" cy="9143898"/>
          </a:xfrm>
          <a:custGeom>
            <a:avLst/>
            <a:gdLst/>
            <a:ahLst/>
            <a:cxnLst/>
            <a:rect l="l" t="t" r="r" b="b"/>
            <a:pathLst>
              <a:path w="4344670" h="2201545">
                <a:moveTo>
                  <a:pt x="4344439" y="2201117"/>
                </a:moveTo>
                <a:lnTo>
                  <a:pt x="0" y="2201117"/>
                </a:lnTo>
                <a:lnTo>
                  <a:pt x="0" y="0"/>
                </a:lnTo>
                <a:lnTo>
                  <a:pt x="4344439" y="0"/>
                </a:lnTo>
                <a:lnTo>
                  <a:pt x="4344439" y="2201117"/>
                </a:lnTo>
                <a:close/>
              </a:path>
            </a:pathLst>
          </a:custGeom>
          <a:solidFill>
            <a:srgbClr val="FFFFFF"/>
          </a:solidFill>
        </p:spPr>
        <p:txBody>
          <a:bodyPr wrap="square" lIns="0" tIns="0" rIns="0" bIns="0" rtlCol="0"/>
          <a:lstStyle/>
          <a:p>
            <a:pPr marL="55563" algn="just" defTabSz="301625" rtl="0" fontAlgn="base">
              <a:tabLst>
                <a:tab pos="2286000" algn="l"/>
              </a:tabLst>
            </a:pPr>
            <a:endParaRPr lang="vi-VN" sz="2800" dirty="0">
              <a:latin typeface="+mj-lt"/>
            </a:endParaRPr>
          </a:p>
        </p:txBody>
      </p:sp>
      <p:sp>
        <p:nvSpPr>
          <p:cNvPr id="4" name="object 4"/>
          <p:cNvSpPr txBox="1"/>
          <p:nvPr/>
        </p:nvSpPr>
        <p:spPr>
          <a:xfrm>
            <a:off x="639274" y="4114050"/>
            <a:ext cx="11137598" cy="659796"/>
          </a:xfrm>
          <a:prstGeom prst="rect">
            <a:avLst/>
          </a:prstGeom>
        </p:spPr>
        <p:txBody>
          <a:bodyPr vert="horz" wrap="square" lIns="0" tIns="15875" rIns="0" bIns="0" rtlCol="0">
            <a:spAutoFit/>
          </a:bodyPr>
          <a:lstStyle/>
          <a:p>
            <a:pPr marL="41275">
              <a:spcBef>
                <a:spcPts val="690"/>
              </a:spcBef>
            </a:pPr>
            <a:endParaRPr lang="en-US" b="1">
              <a:solidFill>
                <a:srgbClr val="7B1300"/>
              </a:solidFill>
              <a:latin typeface="Times New Roman"/>
              <a:cs typeface="Times New Roman"/>
            </a:endParaRPr>
          </a:p>
          <a:p>
            <a:pPr marL="41275">
              <a:spcBef>
                <a:spcPts val="690"/>
              </a:spcBef>
            </a:pPr>
            <a:endParaRPr lang="en-US">
              <a:latin typeface="Times New Roman"/>
              <a:cs typeface="Times New Roman"/>
            </a:endParaRPr>
          </a:p>
        </p:txBody>
      </p:sp>
      <p:sp>
        <p:nvSpPr>
          <p:cNvPr id="6" name="object 6"/>
          <p:cNvSpPr/>
          <p:nvPr/>
        </p:nvSpPr>
        <p:spPr>
          <a:xfrm>
            <a:off x="644874" y="3376645"/>
            <a:ext cx="8551909" cy="657281"/>
          </a:xfrm>
          <a:custGeom>
            <a:avLst/>
            <a:gdLst/>
            <a:ahLst/>
            <a:cxnLst/>
            <a:rect l="l" t="t" r="r" b="b"/>
            <a:pathLst>
              <a:path w="4344670" h="428625">
                <a:moveTo>
                  <a:pt x="4344440" y="428100"/>
                </a:moveTo>
                <a:lnTo>
                  <a:pt x="0" y="428100"/>
                </a:lnTo>
                <a:lnTo>
                  <a:pt x="0" y="0"/>
                </a:lnTo>
                <a:lnTo>
                  <a:pt x="4344440" y="0"/>
                </a:lnTo>
                <a:lnTo>
                  <a:pt x="4344440" y="428100"/>
                </a:lnTo>
                <a:close/>
              </a:path>
            </a:pathLst>
          </a:custGeom>
          <a:solidFill>
            <a:srgbClr val="7B131A"/>
          </a:solidFill>
        </p:spPr>
        <p:txBody>
          <a:bodyPr wrap="square" lIns="0" tIns="0" rIns="0" bIns="0" rtlCol="0"/>
          <a:lstStyle/>
          <a:p>
            <a:endParaRPr sz="3200"/>
          </a:p>
        </p:txBody>
      </p:sp>
      <p:sp>
        <p:nvSpPr>
          <p:cNvPr id="7" name="object 7"/>
          <p:cNvSpPr txBox="1"/>
          <p:nvPr/>
        </p:nvSpPr>
        <p:spPr>
          <a:xfrm>
            <a:off x="-857567" y="3506403"/>
            <a:ext cx="11348242" cy="509115"/>
          </a:xfrm>
          <a:prstGeom prst="rect">
            <a:avLst/>
          </a:prstGeom>
        </p:spPr>
        <p:txBody>
          <a:bodyPr vert="horz" wrap="square" lIns="0" tIns="16510" rIns="0" bIns="0" rtlCol="0">
            <a:spAutoFit/>
          </a:bodyPr>
          <a:lstStyle/>
          <a:p>
            <a:pPr marL="274320" algn="ctr">
              <a:spcBef>
                <a:spcPts val="130"/>
              </a:spcBef>
            </a:pPr>
            <a:r>
              <a:rPr lang="en-US" sz="3200" b="1" dirty="0" err="1">
                <a:solidFill>
                  <a:srgbClr val="FFFFFF"/>
                </a:solidFill>
                <a:latin typeface="Times New Roman"/>
                <a:cs typeface="Times New Roman"/>
              </a:rPr>
              <a:t>Xác</a:t>
            </a:r>
            <a:r>
              <a:rPr lang="en-US" sz="3200" b="1" dirty="0">
                <a:solidFill>
                  <a:srgbClr val="FFFFFF"/>
                </a:solidFill>
                <a:latin typeface="Times New Roman"/>
                <a:cs typeface="Times New Roman"/>
              </a:rPr>
              <a:t> </a:t>
            </a:r>
            <a:r>
              <a:rPr lang="en-US" sz="3200" b="1" dirty="0" err="1">
                <a:solidFill>
                  <a:srgbClr val="FFFFFF"/>
                </a:solidFill>
                <a:latin typeface="Times New Roman"/>
                <a:cs typeface="Times New Roman"/>
              </a:rPr>
              <a:t>định</a:t>
            </a:r>
            <a:r>
              <a:rPr lang="en-US" sz="3200" b="1" dirty="0">
                <a:solidFill>
                  <a:srgbClr val="FFFFFF"/>
                </a:solidFill>
                <a:latin typeface="Times New Roman"/>
                <a:cs typeface="Times New Roman"/>
              </a:rPr>
              <a:t> </a:t>
            </a:r>
            <a:r>
              <a:rPr lang="en-US" sz="3200" b="1" dirty="0" err="1">
                <a:solidFill>
                  <a:srgbClr val="FFFFFF"/>
                </a:solidFill>
                <a:latin typeface="Times New Roman"/>
                <a:cs typeface="Times New Roman"/>
              </a:rPr>
              <a:t>vấn</a:t>
            </a:r>
            <a:r>
              <a:rPr lang="en-US" sz="3200" b="1" dirty="0">
                <a:solidFill>
                  <a:srgbClr val="FFFFFF"/>
                </a:solidFill>
                <a:latin typeface="Times New Roman"/>
                <a:cs typeface="Times New Roman"/>
              </a:rPr>
              <a:t> </a:t>
            </a:r>
            <a:r>
              <a:rPr lang="en-US" sz="3200" b="1" dirty="0" err="1">
                <a:solidFill>
                  <a:srgbClr val="FFFFFF"/>
                </a:solidFill>
                <a:latin typeface="Times New Roman"/>
                <a:cs typeface="Times New Roman"/>
              </a:rPr>
              <a:t>đề</a:t>
            </a:r>
            <a:r>
              <a:rPr lang="en-US" sz="3200" b="1" dirty="0">
                <a:solidFill>
                  <a:srgbClr val="FFFFFF"/>
                </a:solidFill>
                <a:latin typeface="Times New Roman"/>
                <a:cs typeface="Times New Roman"/>
              </a:rPr>
              <a:t> </a:t>
            </a:r>
            <a:r>
              <a:rPr lang="en-US" sz="3200" b="1" dirty="0" err="1">
                <a:solidFill>
                  <a:srgbClr val="FFFFFF"/>
                </a:solidFill>
                <a:latin typeface="Times New Roman"/>
                <a:cs typeface="Times New Roman"/>
              </a:rPr>
              <a:t>và</a:t>
            </a:r>
            <a:r>
              <a:rPr lang="en-US" sz="3200" b="1" dirty="0">
                <a:solidFill>
                  <a:srgbClr val="FFFFFF"/>
                </a:solidFill>
                <a:latin typeface="Times New Roman"/>
                <a:cs typeface="Times New Roman"/>
              </a:rPr>
              <a:t> </a:t>
            </a:r>
            <a:r>
              <a:rPr lang="en-US" sz="3200" b="1" dirty="0" err="1">
                <a:solidFill>
                  <a:srgbClr val="FFFFFF"/>
                </a:solidFill>
                <a:latin typeface="Times New Roman"/>
                <a:cs typeface="Times New Roman"/>
              </a:rPr>
              <a:t>đóng</a:t>
            </a:r>
            <a:r>
              <a:rPr lang="en-US" sz="3200" b="1" dirty="0">
                <a:solidFill>
                  <a:srgbClr val="FFFFFF"/>
                </a:solidFill>
                <a:latin typeface="Times New Roman"/>
                <a:cs typeface="Times New Roman"/>
              </a:rPr>
              <a:t> </a:t>
            </a:r>
            <a:r>
              <a:rPr lang="en-US" sz="3200" b="1" dirty="0" err="1">
                <a:solidFill>
                  <a:srgbClr val="FFFFFF"/>
                </a:solidFill>
                <a:latin typeface="Times New Roman"/>
                <a:cs typeface="Times New Roman"/>
              </a:rPr>
              <a:t>góp</a:t>
            </a:r>
            <a:endParaRPr lang="en-US" sz="3200" dirty="0">
              <a:latin typeface="Times New Roman"/>
              <a:cs typeface="Times New Roman"/>
            </a:endParaRPr>
          </a:p>
        </p:txBody>
      </p:sp>
      <p:sp>
        <p:nvSpPr>
          <p:cNvPr id="49" name="object 49"/>
          <p:cNvSpPr txBox="1"/>
          <p:nvPr/>
        </p:nvSpPr>
        <p:spPr>
          <a:xfrm>
            <a:off x="110640" y="13321195"/>
            <a:ext cx="9354584" cy="507190"/>
          </a:xfrm>
          <a:prstGeom prst="rect">
            <a:avLst/>
          </a:prstGeom>
        </p:spPr>
        <p:txBody>
          <a:bodyPr vert="horz" wrap="square" lIns="0" tIns="14605" rIns="0" bIns="0" rtlCol="0">
            <a:spAutoFit/>
          </a:bodyPr>
          <a:lstStyle/>
          <a:p>
            <a:pPr marL="12700" algn="ctr">
              <a:spcBef>
                <a:spcPts val="115"/>
              </a:spcBef>
            </a:pPr>
            <a:r>
              <a:rPr lang="en-US" sz="3200" b="1" dirty="0" err="1">
                <a:solidFill>
                  <a:schemeClr val="bg1"/>
                </a:solidFill>
                <a:latin typeface="Times New Roman" panose="02020603050405020304" pitchFamily="18" charset="0"/>
                <a:cs typeface="Times New Roman" panose="02020603050405020304" pitchFamily="18" charset="0"/>
              </a:rPr>
              <a:t>Tổng</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quan</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nghiên</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cứu</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69" name="Rectangle 5">
            <a:extLst>
              <a:ext uri="{FF2B5EF4-FFF2-40B4-BE49-F238E27FC236}">
                <a16:creationId xmlns:a16="http://schemas.microsoft.com/office/drawing/2014/main" id="{CA7EB06E-A397-0256-A9BF-75CE41F0E322}"/>
              </a:ext>
            </a:extLst>
          </p:cNvPr>
          <p:cNvSpPr>
            <a:spLocks noChangeArrowheads="1"/>
          </p:cNvSpPr>
          <p:nvPr/>
        </p:nvSpPr>
        <p:spPr bwMode="auto">
          <a:xfrm>
            <a:off x="446577" y="5787088"/>
            <a:ext cx="28725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sz="3200">
              <a:solidFill>
                <a:schemeClr val="tx1"/>
              </a:solidFill>
              <a:latin typeface="Arial" panose="020B0604020202020204" pitchFamily="34" charset="0"/>
            </a:endParaRPr>
          </a:p>
          <a:p>
            <a:pPr algn="l" rtl="0" eaLnBrk="0" fontAlgn="base" hangingPunct="0">
              <a:spcBef>
                <a:spcPct val="0"/>
              </a:spcBef>
              <a:spcAft>
                <a:spcPct val="0"/>
              </a:spcAft>
            </a:pPr>
            <a:r>
              <a:rPr lang="en-US" altLang="en-US" sz="1600">
                <a:solidFill>
                  <a:schemeClr val="tx1"/>
                </a:solidFill>
                <a:latin typeface="Times New Roman" panose="02020603050405020304" pitchFamily="18" charset="0"/>
                <a:cs typeface="Times New Roman" panose="02020603050405020304" pitchFamily="18" charset="0"/>
              </a:rPr>
              <a:t>. </a:t>
            </a:r>
          </a:p>
        </p:txBody>
      </p:sp>
      <p:grpSp>
        <p:nvGrpSpPr>
          <p:cNvPr id="20" name="Group 19">
            <a:extLst>
              <a:ext uri="{FF2B5EF4-FFF2-40B4-BE49-F238E27FC236}">
                <a16:creationId xmlns:a16="http://schemas.microsoft.com/office/drawing/2014/main" id="{6FB3C5CD-8B00-4EE9-0C57-2685C7C9D30A}"/>
              </a:ext>
            </a:extLst>
          </p:cNvPr>
          <p:cNvGrpSpPr/>
          <p:nvPr/>
        </p:nvGrpSpPr>
        <p:grpSpPr>
          <a:xfrm>
            <a:off x="521622" y="13884922"/>
            <a:ext cx="8705333" cy="6020366"/>
            <a:chOff x="10851680" y="7304421"/>
            <a:chExt cx="4394126" cy="4447839"/>
          </a:xfrm>
        </p:grpSpPr>
        <p:sp>
          <p:nvSpPr>
            <p:cNvPr id="25" name="object 25"/>
            <p:cNvSpPr/>
            <p:nvPr/>
          </p:nvSpPr>
          <p:spPr>
            <a:xfrm>
              <a:off x="10851680" y="7304421"/>
              <a:ext cx="4394126" cy="4447839"/>
            </a:xfrm>
            <a:custGeom>
              <a:avLst/>
              <a:gdLst/>
              <a:ahLst/>
              <a:cxnLst/>
              <a:rect l="l" t="t" r="r" b="b"/>
              <a:pathLst>
                <a:path w="4344670" h="5262245">
                  <a:moveTo>
                    <a:pt x="4344440" y="5261959"/>
                  </a:moveTo>
                  <a:lnTo>
                    <a:pt x="0" y="5261959"/>
                  </a:lnTo>
                  <a:lnTo>
                    <a:pt x="0" y="0"/>
                  </a:lnTo>
                  <a:lnTo>
                    <a:pt x="4344440" y="0"/>
                  </a:lnTo>
                  <a:lnTo>
                    <a:pt x="4344440" y="5261959"/>
                  </a:lnTo>
                  <a:close/>
                </a:path>
              </a:pathLst>
            </a:custGeom>
            <a:solidFill>
              <a:srgbClr val="FFFFFF"/>
            </a:solidFill>
          </p:spPr>
          <p:txBody>
            <a:bodyPr wrap="square" lIns="0" tIns="0" rIns="0" bIns="0" rtlCol="0"/>
            <a:lstStyle/>
            <a:p>
              <a:endParaRPr sz="2000">
                <a:latin typeface="+mj-lt"/>
              </a:endParaRPr>
            </a:p>
          </p:txBody>
        </p:sp>
        <p:sp>
          <p:nvSpPr>
            <p:cNvPr id="23" name="TextBox 22">
              <a:extLst>
                <a:ext uri="{FF2B5EF4-FFF2-40B4-BE49-F238E27FC236}">
                  <a16:creationId xmlns:a16="http://schemas.microsoft.com/office/drawing/2014/main" id="{F6E47E1C-70F1-0509-2AFB-466CFCD5044C}"/>
                </a:ext>
              </a:extLst>
            </p:cNvPr>
            <p:cNvSpPr txBox="1"/>
            <p:nvPr/>
          </p:nvSpPr>
          <p:spPr>
            <a:xfrm>
              <a:off x="10957659" y="7304421"/>
              <a:ext cx="4123884" cy="341078"/>
            </a:xfrm>
            <a:prstGeom prst="rect">
              <a:avLst/>
            </a:prstGeom>
            <a:noFill/>
          </p:spPr>
          <p:txBody>
            <a:bodyPr wrap="square" rtlCol="0">
              <a:spAutoFit/>
            </a:bodyPr>
            <a:lstStyle/>
            <a:p>
              <a:endParaRPr lang="en-US" sz="2400" dirty="0">
                <a:latin typeface="+mj-lt"/>
              </a:endParaRPr>
            </a:p>
          </p:txBody>
        </p:sp>
      </p:grpSp>
      <p:grpSp>
        <p:nvGrpSpPr>
          <p:cNvPr id="39" name="Group 38">
            <a:extLst>
              <a:ext uri="{FF2B5EF4-FFF2-40B4-BE49-F238E27FC236}">
                <a16:creationId xmlns:a16="http://schemas.microsoft.com/office/drawing/2014/main" id="{A904DADB-8CED-1C58-2793-B3335012FE05}"/>
              </a:ext>
            </a:extLst>
          </p:cNvPr>
          <p:cNvGrpSpPr/>
          <p:nvPr/>
        </p:nvGrpSpPr>
        <p:grpSpPr>
          <a:xfrm>
            <a:off x="24859508" y="17263620"/>
            <a:ext cx="10959603" cy="2747287"/>
            <a:chOff x="10816694" y="18797037"/>
            <a:chExt cx="6965204" cy="1346035"/>
          </a:xfrm>
        </p:grpSpPr>
        <p:sp>
          <p:nvSpPr>
            <p:cNvPr id="17" name="object 17"/>
            <p:cNvSpPr/>
            <p:nvPr/>
          </p:nvSpPr>
          <p:spPr>
            <a:xfrm>
              <a:off x="10890826" y="19059692"/>
              <a:ext cx="6878320" cy="931544"/>
            </a:xfrm>
            <a:custGeom>
              <a:avLst/>
              <a:gdLst/>
              <a:ahLst/>
              <a:cxnLst/>
              <a:rect l="l" t="t" r="r" b="b"/>
              <a:pathLst>
                <a:path w="6878320" h="931544">
                  <a:moveTo>
                    <a:pt x="6878226" y="931475"/>
                  </a:moveTo>
                  <a:lnTo>
                    <a:pt x="0" y="931475"/>
                  </a:lnTo>
                  <a:lnTo>
                    <a:pt x="0" y="0"/>
                  </a:lnTo>
                  <a:lnTo>
                    <a:pt x="6878226" y="0"/>
                  </a:lnTo>
                  <a:lnTo>
                    <a:pt x="6878226" y="931475"/>
                  </a:lnTo>
                  <a:close/>
                </a:path>
              </a:pathLst>
            </a:custGeom>
            <a:solidFill>
              <a:srgbClr val="FFFFFF"/>
            </a:solidFill>
          </p:spPr>
          <p:txBody>
            <a:bodyPr wrap="square" lIns="0" tIns="0" rIns="0" bIns="0" rtlCol="0"/>
            <a:lstStyle/>
            <a:p>
              <a:endParaRPr lang="en-US" sz="1600">
                <a:latin typeface="Times New Roman" panose="02020603050405020304" pitchFamily="18" charset="0"/>
                <a:cs typeface="Times New Roman" panose="02020603050405020304" pitchFamily="18" charset="0"/>
              </a:endParaRPr>
            </a:p>
          </p:txBody>
        </p:sp>
        <p:sp>
          <p:nvSpPr>
            <p:cNvPr id="54" name="object 54"/>
            <p:cNvSpPr/>
            <p:nvPr/>
          </p:nvSpPr>
          <p:spPr>
            <a:xfrm>
              <a:off x="10890826" y="18834858"/>
              <a:ext cx="6878320" cy="224834"/>
            </a:xfrm>
            <a:custGeom>
              <a:avLst/>
              <a:gdLst/>
              <a:ahLst/>
              <a:cxnLst/>
              <a:rect l="l" t="t" r="r" b="b"/>
              <a:pathLst>
                <a:path w="6878320" h="347344">
                  <a:moveTo>
                    <a:pt x="6878226" y="347188"/>
                  </a:moveTo>
                  <a:lnTo>
                    <a:pt x="0" y="347188"/>
                  </a:lnTo>
                  <a:lnTo>
                    <a:pt x="0" y="0"/>
                  </a:lnTo>
                  <a:lnTo>
                    <a:pt x="6878226" y="0"/>
                  </a:lnTo>
                  <a:lnTo>
                    <a:pt x="6878226" y="347188"/>
                  </a:lnTo>
                  <a:close/>
                </a:path>
              </a:pathLst>
            </a:custGeom>
            <a:solidFill>
              <a:srgbClr val="7B131A"/>
            </a:solidFill>
          </p:spPr>
          <p:txBody>
            <a:bodyPr wrap="square" lIns="0" tIns="0" rIns="0" bIns="0" rtlCol="0"/>
            <a:lstStyle/>
            <a:p>
              <a:endParaRPr sz="3200" dirty="0"/>
            </a:p>
          </p:txBody>
        </p:sp>
        <p:sp>
          <p:nvSpPr>
            <p:cNvPr id="55" name="object 55"/>
            <p:cNvSpPr txBox="1"/>
            <p:nvPr/>
          </p:nvSpPr>
          <p:spPr>
            <a:xfrm>
              <a:off x="13069365" y="18797037"/>
              <a:ext cx="2576782" cy="248498"/>
            </a:xfrm>
            <a:prstGeom prst="rect">
              <a:avLst/>
            </a:prstGeom>
          </p:spPr>
          <p:txBody>
            <a:bodyPr vert="horz" wrap="square" lIns="0" tIns="14605" rIns="0" bIns="0" rtlCol="0">
              <a:spAutoFit/>
            </a:bodyPr>
            <a:lstStyle/>
            <a:p>
              <a:pPr marL="12700">
                <a:spcBef>
                  <a:spcPts val="115"/>
                </a:spcBef>
              </a:pPr>
              <a:r>
                <a:rPr lang="en-US" sz="3200" b="1" dirty="0">
                  <a:solidFill>
                    <a:schemeClr val="bg1"/>
                  </a:solidFill>
                  <a:latin typeface="Times New Roman"/>
                  <a:cs typeface="Times New Roman"/>
                </a:rPr>
                <a:t>Tài </a:t>
              </a:r>
              <a:r>
                <a:rPr lang="en-US" sz="3200" b="1" dirty="0" err="1">
                  <a:solidFill>
                    <a:schemeClr val="bg1"/>
                  </a:solidFill>
                  <a:latin typeface="Times New Roman"/>
                  <a:cs typeface="Times New Roman"/>
                </a:rPr>
                <a:t>liệu</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tham</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khảo</a:t>
              </a:r>
              <a:endParaRPr lang="en-US" sz="3200" b="1" dirty="0">
                <a:solidFill>
                  <a:schemeClr val="bg1"/>
                </a:solidFill>
                <a:latin typeface="Times New Roman"/>
                <a:cs typeface="Times New Roman"/>
              </a:endParaRPr>
            </a:p>
          </p:txBody>
        </p:sp>
        <p:sp>
          <p:nvSpPr>
            <p:cNvPr id="24" name="Rectangle 3">
              <a:extLst>
                <a:ext uri="{FF2B5EF4-FFF2-40B4-BE49-F238E27FC236}">
                  <a16:creationId xmlns:a16="http://schemas.microsoft.com/office/drawing/2014/main" id="{E62F9EBF-4B10-1876-9796-582409B7C7DA}"/>
                </a:ext>
              </a:extLst>
            </p:cNvPr>
            <p:cNvSpPr>
              <a:spLocks noChangeArrowheads="1"/>
            </p:cNvSpPr>
            <p:nvPr/>
          </p:nvSpPr>
          <p:spPr bwMode="auto">
            <a:xfrm>
              <a:off x="10872416" y="19093878"/>
              <a:ext cx="6909482" cy="5277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endParaRPr lang="en-US" altLang="en-US" sz="3200">
                <a:solidFill>
                  <a:schemeClr val="tx1"/>
                </a:solidFill>
                <a:latin typeface="Arial" panose="020B0604020202020204" pitchFamily="34" charset="0"/>
              </a:endParaRPr>
            </a:p>
            <a:p>
              <a:pPr algn="l" rtl="0" eaLnBrk="0" fontAlgn="base" hangingPunct="0">
                <a:spcBef>
                  <a:spcPct val="0"/>
                </a:spcBef>
                <a:spcAft>
                  <a:spcPct val="0"/>
                </a:spcAft>
              </a:pPr>
              <a:endParaRPr lang="en-US" altLang="en-US" sz="3200">
                <a:solidFill>
                  <a:schemeClr val="tx1"/>
                </a:solidFill>
                <a:latin typeface="Arial" panose="020B0604020202020204" pitchFamily="34" charset="0"/>
              </a:endParaRPr>
            </a:p>
          </p:txBody>
        </p:sp>
        <p:sp>
          <p:nvSpPr>
            <p:cNvPr id="26" name="TextBox 25">
              <a:extLst>
                <a:ext uri="{FF2B5EF4-FFF2-40B4-BE49-F238E27FC236}">
                  <a16:creationId xmlns:a16="http://schemas.microsoft.com/office/drawing/2014/main" id="{20EB4991-8A53-F04F-7A44-35C40DF175F3}"/>
                </a:ext>
              </a:extLst>
            </p:cNvPr>
            <p:cNvSpPr txBox="1"/>
            <p:nvPr/>
          </p:nvSpPr>
          <p:spPr>
            <a:xfrm>
              <a:off x="10816694" y="19042266"/>
              <a:ext cx="6952452" cy="1100806"/>
            </a:xfrm>
            <a:prstGeom prst="rect">
              <a:avLst/>
            </a:prstGeom>
            <a:noFill/>
          </p:spPr>
          <p:txBody>
            <a:bodyPr wrap="square" rtlCol="0">
              <a:spAutoFit/>
            </a:bodyPr>
            <a:lstStyle/>
            <a:p>
              <a:pPr algn="l" rtl="0" eaLnBrk="0" fontAlgn="base" hangingPunct="0">
                <a:spcBef>
                  <a:spcPct val="0"/>
                </a:spcBef>
                <a:spcAft>
                  <a:spcPct val="0"/>
                </a:spcAft>
                <a:buFontTx/>
                <a:buAutoNum type="arabicPeriod"/>
              </a:pPr>
              <a:r>
                <a:rPr lang="en-US" altLang="en-US" sz="2400" dirty="0" err="1">
                  <a:solidFill>
                    <a:srgbClr val="303030"/>
                  </a:solidFill>
                  <a:latin typeface="Times New Roman" panose="02020603050405020304" pitchFamily="18" charset="0"/>
                  <a:ea typeface="Google Sans Text"/>
                  <a:cs typeface="Times New Roman" panose="02020603050405020304" pitchFamily="18" charset="0"/>
                </a:rPr>
                <a:t>Bộ</a:t>
              </a: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2400" dirty="0" err="1">
                  <a:solidFill>
                    <a:srgbClr val="303030"/>
                  </a:solidFill>
                  <a:latin typeface="Times New Roman" panose="02020603050405020304" pitchFamily="18" charset="0"/>
                  <a:ea typeface="Google Sans Text"/>
                  <a:cs typeface="Times New Roman" panose="02020603050405020304" pitchFamily="18" charset="0"/>
                </a:rPr>
                <a:t>Nông</a:t>
              </a: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2400" dirty="0" err="1">
                  <a:solidFill>
                    <a:srgbClr val="303030"/>
                  </a:solidFill>
                  <a:latin typeface="Times New Roman" panose="02020603050405020304" pitchFamily="18" charset="0"/>
                  <a:ea typeface="Google Sans Text"/>
                  <a:cs typeface="Times New Roman" panose="02020603050405020304" pitchFamily="18" charset="0"/>
                </a:rPr>
                <a:t>nghiệp</a:t>
              </a: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 &amp; PTNT, </a:t>
              </a:r>
              <a:r>
                <a:rPr lang="en-US" altLang="en-US" sz="2400" i="1" dirty="0" err="1">
                  <a:solidFill>
                    <a:srgbClr val="303030"/>
                  </a:solidFill>
                  <a:latin typeface="Times New Roman" panose="02020603050405020304" pitchFamily="18" charset="0"/>
                  <a:ea typeface="Google Sans Text"/>
                  <a:cs typeface="Times New Roman" panose="02020603050405020304" pitchFamily="18" charset="0"/>
                </a:rPr>
                <a:t>Quyết</a:t>
              </a:r>
              <a:r>
                <a:rPr lang="en-US" altLang="en-US" sz="2400" i="1"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2400" i="1" dirty="0" err="1">
                  <a:solidFill>
                    <a:srgbClr val="303030"/>
                  </a:solidFill>
                  <a:latin typeface="Times New Roman" panose="02020603050405020304" pitchFamily="18" charset="0"/>
                  <a:ea typeface="Google Sans Text"/>
                  <a:cs typeface="Times New Roman" panose="02020603050405020304" pitchFamily="18" charset="0"/>
                </a:rPr>
                <a:t>định</a:t>
              </a:r>
              <a:r>
                <a:rPr lang="en-US" altLang="en-US" sz="2400" i="1" dirty="0">
                  <a:solidFill>
                    <a:srgbClr val="303030"/>
                  </a:solidFill>
                  <a:latin typeface="Times New Roman" panose="02020603050405020304" pitchFamily="18" charset="0"/>
                  <a:ea typeface="Google Sans Text"/>
                  <a:cs typeface="Times New Roman" panose="02020603050405020304" pitchFamily="18" charset="0"/>
                </a:rPr>
                <a:t> </a:t>
              </a:r>
              <a:r>
                <a:rPr lang="en-US" altLang="en-US" sz="2400" i="1" dirty="0" err="1">
                  <a:solidFill>
                    <a:srgbClr val="303030"/>
                  </a:solidFill>
                  <a:latin typeface="Times New Roman" panose="02020603050405020304" pitchFamily="18" charset="0"/>
                  <a:ea typeface="Google Sans Text"/>
                  <a:cs typeface="Times New Roman" panose="02020603050405020304" pitchFamily="18" charset="0"/>
                </a:rPr>
                <a:t>số</a:t>
              </a:r>
              <a:r>
                <a:rPr lang="en-US" altLang="en-US" sz="2400" i="1" dirty="0">
                  <a:solidFill>
                    <a:srgbClr val="303030"/>
                  </a:solidFill>
                  <a:latin typeface="Times New Roman" panose="02020603050405020304" pitchFamily="18" charset="0"/>
                  <a:ea typeface="Google Sans Text"/>
                  <a:cs typeface="Times New Roman" panose="02020603050405020304" pitchFamily="18" charset="0"/>
                </a:rPr>
                <a:t> 898/QĐ-BNN-CN</a:t>
              </a: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 2024.</a:t>
              </a:r>
            </a:p>
            <a:p>
              <a:pPr algn="l" rtl="0" eaLnBrk="0" fontAlgn="base" hangingPunct="0">
                <a:spcBef>
                  <a:spcPct val="0"/>
                </a:spcBef>
                <a:spcAft>
                  <a:spcPct val="0"/>
                </a:spcAft>
                <a:buFontTx/>
                <a:buAutoNum type="arabicPeriod" startAt="2"/>
              </a:pP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H. Zhang et al., "Smart beehive monitoring system based on IoT sensors," </a:t>
              </a:r>
              <a:r>
                <a:rPr lang="en-US" altLang="en-US" sz="2400" i="1" dirty="0">
                  <a:solidFill>
                    <a:srgbClr val="303030"/>
                  </a:solidFill>
                  <a:latin typeface="Times New Roman" panose="02020603050405020304" pitchFamily="18" charset="0"/>
                  <a:ea typeface="Google Sans Text"/>
                  <a:cs typeface="Times New Roman" panose="02020603050405020304" pitchFamily="18" charset="0"/>
                </a:rPr>
                <a:t>Computers and Electronics in Agriculture</a:t>
              </a: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 2020.</a:t>
              </a:r>
            </a:p>
            <a:p>
              <a:pPr algn="l" rtl="0" eaLnBrk="0" fontAlgn="base" hangingPunct="0">
                <a:spcBef>
                  <a:spcPct val="0"/>
                </a:spcBef>
                <a:spcAft>
                  <a:spcPct val="0"/>
                </a:spcAft>
                <a:buFontTx/>
                <a:buAutoNum type="arabicPeriod" startAt="3"/>
              </a:pP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M. Ramsey et al., "Swarming detection in honeybee colonies using vibration analysis," </a:t>
              </a:r>
              <a:r>
                <a:rPr lang="en-US" altLang="en-US" sz="2400" i="1" dirty="0">
                  <a:solidFill>
                    <a:srgbClr val="303030"/>
                  </a:solidFill>
                  <a:latin typeface="Times New Roman" panose="02020603050405020304" pitchFamily="18" charset="0"/>
                  <a:ea typeface="Google Sans Text"/>
                  <a:cs typeface="Times New Roman" panose="02020603050405020304" pitchFamily="18" charset="0"/>
                </a:rPr>
                <a:t>IEEE Trans. Ind. Electron.</a:t>
              </a:r>
              <a:r>
                <a:rPr lang="en-US" altLang="en-US" sz="2400" dirty="0">
                  <a:solidFill>
                    <a:srgbClr val="303030"/>
                  </a:solidFill>
                  <a:latin typeface="Times New Roman" panose="02020603050405020304" pitchFamily="18" charset="0"/>
                  <a:ea typeface="Google Sans Text"/>
                  <a:cs typeface="Times New Roman" panose="02020603050405020304" pitchFamily="18" charset="0"/>
                </a:rPr>
                <a:t>, 2020</a:t>
              </a:r>
            </a:p>
            <a:p>
              <a:endParaRPr lang="en-US" sz="2000" dirty="0">
                <a:latin typeface="Times New Roman" panose="02020603050405020304" pitchFamily="18" charset="0"/>
                <a:cs typeface="Times New Roman" panose="02020603050405020304" pitchFamily="18" charset="0"/>
              </a:endParaRPr>
            </a:p>
          </p:txBody>
        </p:sp>
      </p:grpSp>
      <p:sp>
        <p:nvSpPr>
          <p:cNvPr id="10" name="object 10"/>
          <p:cNvSpPr/>
          <p:nvPr/>
        </p:nvSpPr>
        <p:spPr>
          <a:xfrm>
            <a:off x="9623580" y="3370668"/>
            <a:ext cx="15020759" cy="721627"/>
          </a:xfrm>
          <a:custGeom>
            <a:avLst/>
            <a:gdLst/>
            <a:ahLst/>
            <a:cxnLst/>
            <a:rect l="l" t="t" r="r" b="b"/>
            <a:pathLst>
              <a:path w="9464040" h="428625">
                <a:moveTo>
                  <a:pt x="9463464" y="428100"/>
                </a:moveTo>
                <a:lnTo>
                  <a:pt x="0" y="428100"/>
                </a:lnTo>
                <a:lnTo>
                  <a:pt x="0" y="0"/>
                </a:lnTo>
                <a:lnTo>
                  <a:pt x="9463464" y="0"/>
                </a:lnTo>
                <a:lnTo>
                  <a:pt x="9463464" y="428100"/>
                </a:lnTo>
                <a:close/>
              </a:path>
            </a:pathLst>
          </a:custGeom>
          <a:solidFill>
            <a:srgbClr val="7B131A"/>
          </a:solidFill>
        </p:spPr>
        <p:txBody>
          <a:bodyPr wrap="square" lIns="0" tIns="0" rIns="0" bIns="0" rtlCol="0"/>
          <a:lstStyle/>
          <a:p>
            <a:endParaRPr sz="4000"/>
          </a:p>
        </p:txBody>
      </p:sp>
      <p:sp>
        <p:nvSpPr>
          <p:cNvPr id="11" name="object 11"/>
          <p:cNvSpPr txBox="1"/>
          <p:nvPr/>
        </p:nvSpPr>
        <p:spPr>
          <a:xfrm>
            <a:off x="9623580" y="3428795"/>
            <a:ext cx="15020759" cy="509114"/>
          </a:xfrm>
          <a:prstGeom prst="rect">
            <a:avLst/>
          </a:prstGeom>
        </p:spPr>
        <p:txBody>
          <a:bodyPr vert="horz" wrap="square" lIns="0" tIns="16510" rIns="0" bIns="0" rtlCol="0">
            <a:spAutoFit/>
          </a:bodyPr>
          <a:lstStyle/>
          <a:p>
            <a:pPr algn="ctr">
              <a:spcBef>
                <a:spcPts val="130"/>
              </a:spcBef>
            </a:pPr>
            <a:r>
              <a:rPr lang="en-US" sz="3200" b="1" dirty="0" err="1">
                <a:solidFill>
                  <a:schemeClr val="bg1"/>
                </a:solidFill>
                <a:latin typeface="Times New Roman"/>
                <a:cs typeface="Times New Roman"/>
              </a:rPr>
              <a:t>Sơ</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đồ</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hệ</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thống</a:t>
            </a:r>
            <a:endParaRPr lang="en-US" sz="3200" b="1" dirty="0">
              <a:solidFill>
                <a:schemeClr val="bg1"/>
              </a:solidFill>
              <a:latin typeface="Times New Roman"/>
              <a:cs typeface="Times New Roman"/>
            </a:endParaRPr>
          </a:p>
        </p:txBody>
      </p:sp>
      <p:sp>
        <p:nvSpPr>
          <p:cNvPr id="56" name="object 56"/>
          <p:cNvSpPr txBox="1"/>
          <p:nvPr/>
        </p:nvSpPr>
        <p:spPr>
          <a:xfrm>
            <a:off x="9598656" y="11658107"/>
            <a:ext cx="15230293" cy="539440"/>
          </a:xfrm>
          <a:prstGeom prst="rect">
            <a:avLst/>
          </a:prstGeom>
          <a:solidFill>
            <a:srgbClr val="7B131A"/>
          </a:solidFill>
        </p:spPr>
        <p:txBody>
          <a:bodyPr vert="horz" wrap="square" lIns="0" tIns="43815" rIns="0" bIns="0" rtlCol="0">
            <a:spAutoFit/>
          </a:bodyPr>
          <a:lstStyle/>
          <a:p>
            <a:pPr algn="ctr">
              <a:spcBef>
                <a:spcPts val="345"/>
              </a:spcBef>
            </a:pPr>
            <a:r>
              <a:rPr lang="en-US" sz="3200" b="1" dirty="0" err="1">
                <a:solidFill>
                  <a:schemeClr val="bg1"/>
                </a:solidFill>
                <a:latin typeface="Times New Roman"/>
                <a:cs typeface="Times New Roman"/>
              </a:rPr>
              <a:t>Thực</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nghiệm</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và</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kết</a:t>
            </a:r>
            <a:r>
              <a:rPr lang="en-US" sz="3200" b="1" dirty="0">
                <a:solidFill>
                  <a:schemeClr val="bg1"/>
                </a:solidFill>
                <a:latin typeface="Times New Roman"/>
                <a:cs typeface="Times New Roman"/>
              </a:rPr>
              <a:t> </a:t>
            </a:r>
            <a:r>
              <a:rPr lang="en-US" sz="3200" b="1" dirty="0" err="1">
                <a:solidFill>
                  <a:schemeClr val="bg1"/>
                </a:solidFill>
                <a:latin typeface="Times New Roman"/>
                <a:cs typeface="Times New Roman"/>
              </a:rPr>
              <a:t>quả</a:t>
            </a:r>
            <a:endParaRPr lang="en-US" sz="3200" b="1" dirty="0">
              <a:solidFill>
                <a:schemeClr val="bg1"/>
              </a:solidFill>
              <a:latin typeface="Times New Roman"/>
              <a:cs typeface="Times New Roman"/>
            </a:endParaRPr>
          </a:p>
        </p:txBody>
      </p:sp>
      <p:sp>
        <p:nvSpPr>
          <p:cNvPr id="5" name="AutoShape 2" descr="Sơ đồ phân lớp cơ khí, phần cứng, phần mềm">
            <a:extLst>
              <a:ext uri="{FF2B5EF4-FFF2-40B4-BE49-F238E27FC236}">
                <a16:creationId xmlns:a16="http://schemas.microsoft.com/office/drawing/2014/main" id="{203EE924-00B0-9601-6844-CD134EA85BF4}"/>
              </a:ext>
            </a:extLst>
          </p:cNvPr>
          <p:cNvSpPr>
            <a:spLocks noChangeAspect="1" noChangeArrowheads="1"/>
          </p:cNvSpPr>
          <p:nvPr/>
        </p:nvSpPr>
        <p:spPr bwMode="auto">
          <a:xfrm>
            <a:off x="13306153" y="11197799"/>
            <a:ext cx="483760" cy="36467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4000"/>
          </a:p>
        </p:txBody>
      </p:sp>
      <p:grpSp>
        <p:nvGrpSpPr>
          <p:cNvPr id="35" name="Group 34">
            <a:extLst>
              <a:ext uri="{FF2B5EF4-FFF2-40B4-BE49-F238E27FC236}">
                <a16:creationId xmlns:a16="http://schemas.microsoft.com/office/drawing/2014/main" id="{70CD935F-2019-498A-CE95-E7653CD0867A}"/>
              </a:ext>
            </a:extLst>
          </p:cNvPr>
          <p:cNvGrpSpPr/>
          <p:nvPr/>
        </p:nvGrpSpPr>
        <p:grpSpPr>
          <a:xfrm>
            <a:off x="24944231" y="3332708"/>
            <a:ext cx="10939538" cy="6757253"/>
            <a:chOff x="10892588" y="12102309"/>
            <a:chExt cx="4344670" cy="4322253"/>
          </a:xfrm>
        </p:grpSpPr>
        <p:sp>
          <p:nvSpPr>
            <p:cNvPr id="29" name="object 29"/>
            <p:cNvSpPr/>
            <p:nvPr/>
          </p:nvSpPr>
          <p:spPr>
            <a:xfrm>
              <a:off x="10940373" y="12558639"/>
              <a:ext cx="4271206" cy="3672903"/>
            </a:xfrm>
            <a:custGeom>
              <a:avLst/>
              <a:gdLst/>
              <a:ahLst/>
              <a:cxnLst/>
              <a:rect l="l" t="t" r="r" b="b"/>
              <a:pathLst>
                <a:path w="4344670" h="4784725">
                  <a:moveTo>
                    <a:pt x="4344433" y="4784691"/>
                  </a:moveTo>
                  <a:lnTo>
                    <a:pt x="0" y="4784691"/>
                  </a:lnTo>
                  <a:lnTo>
                    <a:pt x="0" y="0"/>
                  </a:lnTo>
                  <a:lnTo>
                    <a:pt x="4344433" y="0"/>
                  </a:lnTo>
                  <a:lnTo>
                    <a:pt x="4344433" y="4784691"/>
                  </a:lnTo>
                  <a:close/>
                </a:path>
              </a:pathLst>
            </a:custGeom>
            <a:solidFill>
              <a:srgbClr val="FFFFFF"/>
            </a:solidFill>
          </p:spPr>
          <p:txBody>
            <a:bodyPr wrap="square" lIns="0" tIns="0" rIns="0" bIns="0" rtlCol="0"/>
            <a:lstStyle/>
            <a:p>
              <a:endParaRPr>
                <a:latin typeface="+mj-lt"/>
              </a:endParaRPr>
            </a:p>
          </p:txBody>
        </p:sp>
        <p:sp>
          <p:nvSpPr>
            <p:cNvPr id="50" name="object 50"/>
            <p:cNvSpPr/>
            <p:nvPr/>
          </p:nvSpPr>
          <p:spPr>
            <a:xfrm>
              <a:off x="10892588" y="12109453"/>
              <a:ext cx="4344670" cy="428625"/>
            </a:xfrm>
            <a:custGeom>
              <a:avLst/>
              <a:gdLst/>
              <a:ahLst/>
              <a:cxnLst/>
              <a:rect l="l" t="t" r="r" b="b"/>
              <a:pathLst>
                <a:path w="4344670" h="428625">
                  <a:moveTo>
                    <a:pt x="4344440" y="428100"/>
                  </a:moveTo>
                  <a:lnTo>
                    <a:pt x="0" y="428100"/>
                  </a:lnTo>
                  <a:lnTo>
                    <a:pt x="0" y="0"/>
                  </a:lnTo>
                  <a:lnTo>
                    <a:pt x="4344440" y="0"/>
                  </a:lnTo>
                  <a:lnTo>
                    <a:pt x="4344440" y="428100"/>
                  </a:lnTo>
                  <a:close/>
                </a:path>
              </a:pathLst>
            </a:custGeom>
            <a:solidFill>
              <a:srgbClr val="7B131A"/>
            </a:solidFill>
          </p:spPr>
          <p:txBody>
            <a:bodyPr wrap="square" lIns="0" tIns="0" rIns="0" bIns="0" rtlCol="0"/>
            <a:lstStyle/>
            <a:p>
              <a:endParaRPr sz="3600"/>
            </a:p>
          </p:txBody>
        </p:sp>
        <p:sp>
          <p:nvSpPr>
            <p:cNvPr id="51" name="object 51"/>
            <p:cNvSpPr txBox="1"/>
            <p:nvPr/>
          </p:nvSpPr>
          <p:spPr>
            <a:xfrm>
              <a:off x="11792183" y="12102309"/>
              <a:ext cx="2753979" cy="435152"/>
            </a:xfrm>
            <a:prstGeom prst="rect">
              <a:avLst/>
            </a:prstGeom>
          </p:spPr>
          <p:txBody>
            <a:bodyPr vert="horz" wrap="square" lIns="0" tIns="14605" rIns="0" bIns="0" rtlCol="0">
              <a:spAutoFit/>
            </a:bodyPr>
            <a:lstStyle/>
            <a:p>
              <a:pPr marL="12700" algn="ctr">
                <a:spcBef>
                  <a:spcPts val="115"/>
                </a:spcBef>
              </a:pPr>
              <a:r>
                <a:rPr lang="en-US" sz="4000" err="1">
                  <a:solidFill>
                    <a:schemeClr val="bg1"/>
                  </a:solidFill>
                  <a:latin typeface="Times New Roman"/>
                  <a:cs typeface="Times New Roman"/>
                </a:rPr>
                <a:t>Giải</a:t>
              </a:r>
              <a:r>
                <a:rPr lang="en-US" sz="4000">
                  <a:solidFill>
                    <a:schemeClr val="bg1"/>
                  </a:solidFill>
                  <a:latin typeface="Times New Roman"/>
                  <a:cs typeface="Times New Roman"/>
                </a:rPr>
                <a:t> </a:t>
              </a:r>
              <a:r>
                <a:rPr lang="en-US" sz="4000" err="1">
                  <a:solidFill>
                    <a:schemeClr val="bg1"/>
                  </a:solidFill>
                  <a:latin typeface="Times New Roman"/>
                  <a:cs typeface="Times New Roman"/>
                </a:rPr>
                <a:t>pháp</a:t>
              </a:r>
              <a:r>
                <a:rPr lang="en-US" sz="4000">
                  <a:solidFill>
                    <a:schemeClr val="bg1"/>
                  </a:solidFill>
                  <a:latin typeface="Times New Roman"/>
                  <a:cs typeface="Times New Roman"/>
                </a:rPr>
                <a:t> </a:t>
              </a:r>
              <a:r>
                <a:rPr lang="en-US" sz="4000" err="1">
                  <a:solidFill>
                    <a:schemeClr val="bg1"/>
                  </a:solidFill>
                  <a:latin typeface="Times New Roman"/>
                  <a:cs typeface="Times New Roman"/>
                </a:rPr>
                <a:t>kĩ</a:t>
              </a:r>
              <a:r>
                <a:rPr lang="en-US" sz="4000">
                  <a:solidFill>
                    <a:schemeClr val="bg1"/>
                  </a:solidFill>
                  <a:latin typeface="Times New Roman"/>
                  <a:cs typeface="Times New Roman"/>
                </a:rPr>
                <a:t> </a:t>
              </a:r>
              <a:r>
                <a:rPr lang="en-US" sz="4000" err="1">
                  <a:solidFill>
                    <a:schemeClr val="bg1"/>
                  </a:solidFill>
                  <a:latin typeface="Times New Roman"/>
                  <a:cs typeface="Times New Roman"/>
                </a:rPr>
                <a:t>thuật</a:t>
              </a:r>
              <a:endParaRPr lang="en-US" sz="4000">
                <a:solidFill>
                  <a:schemeClr val="bg1"/>
                </a:solidFill>
                <a:latin typeface="Times New Roman"/>
                <a:cs typeface="Times New Roman"/>
              </a:endParaRPr>
            </a:p>
          </p:txBody>
        </p:sp>
        <p:sp>
          <p:nvSpPr>
            <p:cNvPr id="22" name="TextBox 21">
              <a:extLst>
                <a:ext uri="{FF2B5EF4-FFF2-40B4-BE49-F238E27FC236}">
                  <a16:creationId xmlns:a16="http://schemas.microsoft.com/office/drawing/2014/main" id="{BD21E01E-F2A9-9E67-B9D0-3FF0444871BA}"/>
                </a:ext>
              </a:extLst>
            </p:cNvPr>
            <p:cNvSpPr txBox="1"/>
            <p:nvPr/>
          </p:nvSpPr>
          <p:spPr>
            <a:xfrm>
              <a:off x="10932133" y="12585632"/>
              <a:ext cx="4168957" cy="3838930"/>
            </a:xfrm>
            <a:prstGeom prst="rect">
              <a:avLst/>
            </a:prstGeom>
            <a:noFill/>
          </p:spPr>
          <p:txBody>
            <a:bodyPr wrap="square" rtlCol="0">
              <a:spAutoFit/>
            </a:bodyPr>
            <a:lstStyle/>
            <a:p>
              <a:r>
                <a:rPr lang="vi-VN" sz="2400" dirty="0">
                  <a:latin typeface="+mj-lt"/>
                </a:rPr>
                <a:t>Giải pháp kỹ thuật được xây dựng theo </a:t>
              </a:r>
              <a:r>
                <a:rPr lang="vi-VN" sz="2400" dirty="0">
                  <a:solidFill>
                    <a:srgbClr val="FF0000"/>
                  </a:solidFill>
                  <a:latin typeface="+mj-lt"/>
                </a:rPr>
                <a:t>mô hình kiến trúc </a:t>
              </a:r>
              <a:r>
                <a:rPr lang="en-US" sz="2400" dirty="0">
                  <a:solidFill>
                    <a:srgbClr val="FF0000"/>
                  </a:solidFill>
                  <a:latin typeface="+mj-lt"/>
                </a:rPr>
                <a:t>2</a:t>
              </a:r>
              <a:r>
                <a:rPr lang="vi-VN" sz="2400" dirty="0">
                  <a:solidFill>
                    <a:srgbClr val="FF0000"/>
                  </a:solidFill>
                  <a:latin typeface="+mj-lt"/>
                </a:rPr>
                <a:t> lớp</a:t>
              </a:r>
              <a:r>
                <a:rPr lang="vi-VN" sz="2400" dirty="0">
                  <a:latin typeface="+mj-lt"/>
                </a:rPr>
                <a:t> nhằm đảm bảo khả năng giám sát tổ ong ổn định và theo thời gian thực</a:t>
              </a:r>
              <a:r>
                <a:rPr lang="en-US" sz="2400" dirty="0">
                  <a:latin typeface="+mj-lt"/>
                </a:rPr>
                <a:t>:</a:t>
              </a:r>
            </a:p>
            <a:p>
              <a:pPr marL="171450" indent="-171450">
                <a:buFont typeface="Arial" panose="020B0604020202020204" pitchFamily="34" charset="0"/>
                <a:buChar char="•"/>
              </a:pPr>
              <a:endParaRPr lang="en-US" sz="2400" dirty="0">
                <a:latin typeface="+mj-lt"/>
              </a:endParaRPr>
            </a:p>
            <a:p>
              <a:pPr marL="171450" indent="-171450">
                <a:buFont typeface="Arial" panose="020B0604020202020204" pitchFamily="34" charset="0"/>
                <a:buChar char="•"/>
              </a:pPr>
              <a:endParaRPr lang="en-US" sz="2400" dirty="0">
                <a:latin typeface="+mj-lt"/>
              </a:endParaRPr>
            </a:p>
            <a:p>
              <a:pPr marL="171450" indent="-171450">
                <a:buFont typeface="Arial" panose="020B0604020202020204" pitchFamily="34" charset="0"/>
                <a:buChar char="•"/>
              </a:pPr>
              <a:endParaRPr lang="en-US" sz="2400" dirty="0">
                <a:latin typeface="+mj-lt"/>
              </a:endParaRPr>
            </a:p>
            <a:p>
              <a:pPr marL="171450" indent="-171450">
                <a:buFont typeface="Arial" panose="020B0604020202020204" pitchFamily="34" charset="0"/>
                <a:buChar char="•"/>
              </a:pPr>
              <a:endParaRPr lang="en-US" sz="2400" dirty="0">
                <a:latin typeface="+mj-lt"/>
              </a:endParaRPr>
            </a:p>
            <a:p>
              <a:endParaRPr lang="en-US" sz="2400" dirty="0">
                <a:latin typeface="+mj-lt"/>
              </a:endParaRPr>
            </a:p>
            <a:p>
              <a:pPr marL="171450" indent="-171450">
                <a:buFont typeface="Arial" panose="020B0604020202020204" pitchFamily="34" charset="0"/>
                <a:buChar char="•"/>
              </a:pPr>
              <a:endParaRPr lang="en-US" sz="2400" dirty="0">
                <a:latin typeface="+mj-lt"/>
              </a:endParaRPr>
            </a:p>
            <a:p>
              <a:pPr marL="171450" indent="-171450">
                <a:buFont typeface="Arial" panose="020B0604020202020204" pitchFamily="34" charset="0"/>
                <a:buChar char="•"/>
              </a:pPr>
              <a:endParaRPr lang="en-US" sz="2400" dirty="0">
                <a:latin typeface="+mj-lt"/>
              </a:endParaRPr>
            </a:p>
            <a:p>
              <a:pPr marL="171450" indent="-171450">
                <a:buFont typeface="Arial" panose="020B0604020202020204" pitchFamily="34" charset="0"/>
                <a:buChar char="•"/>
              </a:pPr>
              <a:endParaRPr lang="en-US" sz="2400" dirty="0">
                <a:latin typeface="+mj-lt"/>
              </a:endParaRPr>
            </a:p>
            <a:p>
              <a:endParaRPr lang="en-US" sz="2400" dirty="0">
                <a:latin typeface="+mj-lt"/>
              </a:endParaRPr>
            </a:p>
            <a:p>
              <a:pPr algn="ctr"/>
              <a:endParaRPr lang="en-US" sz="2400" i="1" dirty="0">
                <a:solidFill>
                  <a:schemeClr val="tx1"/>
                </a:solidFill>
                <a:latin typeface="Times New Roman" panose="02020603050405020304" pitchFamily="18" charset="0"/>
                <a:cs typeface="Times New Roman" panose="02020603050405020304" pitchFamily="18" charset="0"/>
              </a:endParaRPr>
            </a:p>
            <a:p>
              <a:pPr algn="ctr"/>
              <a:endParaRPr lang="en-US" sz="2400" i="1" dirty="0">
                <a:solidFill>
                  <a:schemeClr val="tx1"/>
                </a:solidFill>
                <a:latin typeface="Times New Roman" panose="02020603050405020304" pitchFamily="18" charset="0"/>
                <a:cs typeface="Times New Roman" panose="02020603050405020304" pitchFamily="18" charset="0"/>
              </a:endParaRPr>
            </a:p>
            <a:p>
              <a:pPr algn="ctr"/>
              <a:endParaRPr lang="en-US" sz="2400" i="1" dirty="0">
                <a:solidFill>
                  <a:schemeClr val="tx1"/>
                </a:solidFill>
                <a:latin typeface="Times New Roman" panose="02020603050405020304" pitchFamily="18" charset="0"/>
                <a:cs typeface="Times New Roman" panose="02020603050405020304" pitchFamily="18" charset="0"/>
              </a:endParaRPr>
            </a:p>
            <a:p>
              <a:pPr algn="ctr"/>
              <a:r>
                <a:rPr lang="en-US" sz="2400" i="1" dirty="0" err="1">
                  <a:solidFill>
                    <a:schemeClr val="tx1"/>
                  </a:solidFill>
                  <a:latin typeface="Times New Roman" panose="02020603050405020304" pitchFamily="18" charset="0"/>
                  <a:cs typeface="Times New Roman" panose="02020603050405020304" pitchFamily="18" charset="0"/>
                </a:rPr>
                <a:t>Hình</a:t>
              </a:r>
              <a:r>
                <a:rPr lang="en-US" sz="2400" i="1" dirty="0">
                  <a:solidFill>
                    <a:schemeClr val="tx1"/>
                  </a:solidFill>
                  <a:latin typeface="Times New Roman" panose="02020603050405020304" pitchFamily="18" charset="0"/>
                  <a:cs typeface="Times New Roman" panose="02020603050405020304" pitchFamily="18" charset="0"/>
                </a:rPr>
                <a:t> 3: </a:t>
              </a:r>
              <a:r>
                <a:rPr lang="en-US" sz="2400" i="1" dirty="0" err="1">
                  <a:solidFill>
                    <a:schemeClr val="tx1"/>
                  </a:solidFill>
                  <a:latin typeface="Times New Roman" panose="02020603050405020304" pitchFamily="18" charset="0"/>
                  <a:cs typeface="Times New Roman" panose="02020603050405020304" pitchFamily="18" charset="0"/>
                </a:rPr>
                <a:t>Cấu</a:t>
              </a:r>
              <a:r>
                <a:rPr lang="en-US" sz="2400" i="1" dirty="0">
                  <a:solidFill>
                    <a:schemeClr val="tx1"/>
                  </a:solidFill>
                  <a:latin typeface="Times New Roman" panose="02020603050405020304" pitchFamily="18" charset="0"/>
                  <a:cs typeface="Times New Roman" panose="02020603050405020304" pitchFamily="18" charset="0"/>
                </a:rPr>
                <a:t> </a:t>
              </a:r>
              <a:r>
                <a:rPr lang="en-US" sz="2400" i="1" dirty="0" err="1">
                  <a:solidFill>
                    <a:schemeClr val="tx1"/>
                  </a:solidFill>
                  <a:latin typeface="Times New Roman" panose="02020603050405020304" pitchFamily="18" charset="0"/>
                  <a:cs typeface="Times New Roman" panose="02020603050405020304" pitchFamily="18" charset="0"/>
                </a:rPr>
                <a:t>trúc</a:t>
              </a:r>
              <a:r>
                <a:rPr lang="en-US" sz="2400" i="1" dirty="0">
                  <a:solidFill>
                    <a:schemeClr val="tx1"/>
                  </a:solidFill>
                  <a:latin typeface="Times New Roman" panose="02020603050405020304" pitchFamily="18" charset="0"/>
                  <a:cs typeface="Times New Roman" panose="02020603050405020304" pitchFamily="18" charset="0"/>
                </a:rPr>
                <a:t> 2 </a:t>
              </a:r>
              <a:r>
                <a:rPr lang="en-US" sz="2400" i="1" dirty="0" err="1">
                  <a:solidFill>
                    <a:schemeClr val="tx1"/>
                  </a:solidFill>
                  <a:latin typeface="Times New Roman" panose="02020603050405020304" pitchFamily="18" charset="0"/>
                  <a:cs typeface="Times New Roman" panose="02020603050405020304" pitchFamily="18" charset="0"/>
                </a:rPr>
                <a:t>lớp</a:t>
              </a:r>
              <a:endParaRPr lang="vi-VN" sz="2400" i="1"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2400" dirty="0">
                <a:latin typeface="+mj-lt"/>
              </a:endParaRPr>
            </a:p>
          </p:txBody>
        </p:sp>
      </p:grpSp>
      <p:sp>
        <p:nvSpPr>
          <p:cNvPr id="38" name="TextBox 37">
            <a:extLst>
              <a:ext uri="{FF2B5EF4-FFF2-40B4-BE49-F238E27FC236}">
                <a16:creationId xmlns:a16="http://schemas.microsoft.com/office/drawing/2014/main" id="{6A217B26-5CD8-3CEF-38F3-1136C59FA339}"/>
              </a:ext>
            </a:extLst>
          </p:cNvPr>
          <p:cNvSpPr txBox="1"/>
          <p:nvPr/>
        </p:nvSpPr>
        <p:spPr>
          <a:xfrm>
            <a:off x="2105733" y="7060214"/>
            <a:ext cx="5923416" cy="954107"/>
          </a:xfrm>
          <a:prstGeom prst="rect">
            <a:avLst/>
          </a:prstGeom>
          <a:noFill/>
        </p:spPr>
        <p:txBody>
          <a:bodyPr wrap="none" rtlCol="0">
            <a:spAutoFit/>
          </a:bodyPr>
          <a:lstStyle/>
          <a:p>
            <a:pPr algn="ctr"/>
            <a:r>
              <a:rPr lang="en-US" sz="2800" i="1" dirty="0" err="1">
                <a:solidFill>
                  <a:schemeClr val="tx1"/>
                </a:solidFill>
                <a:latin typeface="Times New Roman" panose="02020603050405020304" pitchFamily="18" charset="0"/>
                <a:cs typeface="Times New Roman" panose="02020603050405020304" pitchFamily="18" charset="0"/>
              </a:rPr>
              <a:t>Hình</a:t>
            </a:r>
            <a:r>
              <a:rPr lang="en-US" sz="2800" i="1" dirty="0">
                <a:solidFill>
                  <a:schemeClr val="tx1"/>
                </a:solidFill>
                <a:latin typeface="Times New Roman" panose="02020603050405020304" pitchFamily="18" charset="0"/>
                <a:cs typeface="Times New Roman" panose="02020603050405020304" pitchFamily="18" charset="0"/>
              </a:rPr>
              <a:t> 1: </a:t>
            </a:r>
            <a:r>
              <a:rPr lang="en-US" sz="2800" i="1" dirty="0" err="1">
                <a:latin typeface="Times New Roman" panose="02020603050405020304" pitchFamily="18" charset="0"/>
                <a:cs typeface="Times New Roman" panose="02020603050405020304" pitchFamily="18" charset="0"/>
              </a:rPr>
              <a:t>Ảnh</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thực</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tế</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ngành</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nuôi</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ong</a:t>
            </a:r>
            <a:r>
              <a:rPr lang="en-US" sz="2800" i="1" dirty="0">
                <a:latin typeface="Times New Roman" panose="02020603050405020304" pitchFamily="18" charset="0"/>
                <a:cs typeface="Times New Roman" panose="02020603050405020304" pitchFamily="18" charset="0"/>
              </a:rPr>
              <a:t> VN</a:t>
            </a:r>
            <a:br>
              <a:rPr lang="en-US" sz="2800" dirty="0"/>
            </a:br>
            <a:endParaRPr lang="en-US" sz="2800" dirty="0"/>
          </a:p>
        </p:txBody>
      </p:sp>
      <p:pic>
        <p:nvPicPr>
          <p:cNvPr id="1030" name="Picture 6" descr="Nuôi ong lấy mật theo công nghệ 4.0">
            <a:extLst>
              <a:ext uri="{FF2B5EF4-FFF2-40B4-BE49-F238E27FC236}">
                <a16:creationId xmlns:a16="http://schemas.microsoft.com/office/drawing/2014/main" id="{CC154335-B940-221D-9352-892C7476E1C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00167" y="4186003"/>
            <a:ext cx="6959060" cy="291684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C64074D3-E17D-C8B0-0F56-A81A8C6E1EAC}"/>
              </a:ext>
            </a:extLst>
          </p:cNvPr>
          <p:cNvPicPr>
            <a:picLocks noChangeAspect="1"/>
          </p:cNvPicPr>
          <p:nvPr/>
        </p:nvPicPr>
        <p:blipFill>
          <a:blip r:embed="rId6"/>
          <a:stretch>
            <a:fillRect/>
          </a:stretch>
        </p:blipFill>
        <p:spPr>
          <a:xfrm>
            <a:off x="1173137" y="7535699"/>
            <a:ext cx="7464115" cy="5606235"/>
          </a:xfrm>
          <a:prstGeom prst="rect">
            <a:avLst/>
          </a:prstGeom>
        </p:spPr>
      </p:pic>
      <p:sp>
        <p:nvSpPr>
          <p:cNvPr id="46" name="Rectangle 7">
            <a:extLst>
              <a:ext uri="{FF2B5EF4-FFF2-40B4-BE49-F238E27FC236}">
                <a16:creationId xmlns:a16="http://schemas.microsoft.com/office/drawing/2014/main" id="{FA5444F4-72E8-54F6-F182-6A4334BEC852}"/>
              </a:ext>
            </a:extLst>
          </p:cNvPr>
          <p:cNvSpPr>
            <a:spLocks noChangeArrowheads="1"/>
          </p:cNvSpPr>
          <p:nvPr/>
        </p:nvSpPr>
        <p:spPr bwMode="auto">
          <a:xfrm>
            <a:off x="562187" y="13501740"/>
            <a:ext cx="8728018"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Sự</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suy</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đàn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biến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đổi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khí</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hậu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thuốc</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bảo</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vệ</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vật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dịch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bệnh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đang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ảnh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hưởng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lớn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ngành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nuôi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nay.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Phần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lớn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hộ</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nuôi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Việt Nam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vẫn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quản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thủ</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công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phụ</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thuộc</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kinh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nghiệm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thiếu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hệ</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thống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sát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thời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gian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Nghiên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cứu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 Zhang et al. (2020)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đã</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ứng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dụng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IoT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theo</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dõi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nhiệt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ẩm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trường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tổ</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Nghiên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cứu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Ramsey et al. (2020)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sử</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dụng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phân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tích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rung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âm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thanh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nhằm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bất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thường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đàn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Dựa</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trên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nghiên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cứu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đó</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nhóm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triển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BumbleBee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theo</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hướng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tích</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IoT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Edge AI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trên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ESP32-S3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xử</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trực</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tiếp</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thiết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bị</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Hệ</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thống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kết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cảm</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biến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trường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cân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 loadcell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nhận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diện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chúa</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pháp</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chi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phí</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thấp</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phù</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với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điều</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kiện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nuôi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Việt Nam. </a:t>
            </a:r>
          </a:p>
        </p:txBody>
      </p:sp>
      <p:sp>
        <p:nvSpPr>
          <p:cNvPr id="60" name="TextBox 59">
            <a:extLst>
              <a:ext uri="{FF2B5EF4-FFF2-40B4-BE49-F238E27FC236}">
                <a16:creationId xmlns:a16="http://schemas.microsoft.com/office/drawing/2014/main" id="{B325206D-DBA5-FD84-4B04-17C15E8E909B}"/>
              </a:ext>
            </a:extLst>
          </p:cNvPr>
          <p:cNvSpPr txBox="1"/>
          <p:nvPr/>
        </p:nvSpPr>
        <p:spPr>
          <a:xfrm>
            <a:off x="9723919" y="12295548"/>
            <a:ext cx="7735876" cy="7940635"/>
          </a:xfrm>
          <a:prstGeom prst="rect">
            <a:avLst/>
          </a:prstGeom>
          <a:noFill/>
        </p:spPr>
        <p:txBody>
          <a:bodyPr wrap="square" rtlCol="0">
            <a:spAutoFit/>
          </a:bodyPr>
          <a:lstStyle/>
          <a:p>
            <a:r>
              <a:rPr lang="en-US" sz="2400" b="1" dirty="0" err="1">
                <a:solidFill>
                  <a:srgbClr val="FF0000"/>
                </a:solidFill>
                <a:latin typeface="Times New Roman" panose="02020603050405020304" pitchFamily="18" charset="0"/>
                <a:cs typeface="Times New Roman" panose="02020603050405020304" pitchFamily="18" charset="0"/>
              </a:rPr>
              <a:t>Thiết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lập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thực</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nghiệm</a:t>
            </a:r>
            <a:endParaRPr lang="en-US" sz="2400" b="1" dirty="0">
              <a:solidFill>
                <a:srgbClr val="FF0000"/>
              </a:solidFill>
              <a:latin typeface="Times New Roman" panose="02020603050405020304" pitchFamily="18" charset="0"/>
              <a:cs typeface="Times New Roman" panose="02020603050405020304" pitchFamily="18" charset="0"/>
            </a:endParaRPr>
          </a:p>
          <a:p>
            <a:r>
              <a:rPr lang="vi-VN" sz="2200" dirty="0">
                <a:latin typeface="+mj-lt"/>
              </a:rPr>
              <a:t>Nhóm tiến hành nuôi thử nghiệm tổ ong bằng thùng Langstroth tiêu chuẩn trong thời gian </a:t>
            </a:r>
            <a:r>
              <a:rPr lang="vi-VN" sz="2200" b="1" dirty="0">
                <a:solidFill>
                  <a:srgbClr val="FF0000"/>
                </a:solidFill>
                <a:latin typeface="+mj-lt"/>
              </a:rPr>
              <a:t>2 tháng</a:t>
            </a:r>
            <a:r>
              <a:rPr lang="vi-VN" sz="2200" dirty="0">
                <a:solidFill>
                  <a:srgbClr val="FF0000"/>
                </a:solidFill>
                <a:latin typeface="+mj-lt"/>
              </a:rPr>
              <a:t> </a:t>
            </a:r>
            <a:r>
              <a:rPr lang="vi-VN" sz="2200" dirty="0">
                <a:latin typeface="+mj-lt"/>
              </a:rPr>
              <a:t>nhằm đánh giá khả năng hoạt động của hệ thống trong điều kiện ngoài trời thực tế.</a:t>
            </a:r>
          </a:p>
          <a:p>
            <a:r>
              <a:rPr lang="vi-VN" sz="2200" dirty="0">
                <a:latin typeface="+mj-lt"/>
              </a:rPr>
              <a:t>Do chưa vào mùa ong mật chính tại Việt Nam nên nhóm mới thử nghiệm trên mô hình nuôi cá nhân, tập trung đánh giá:</a:t>
            </a:r>
          </a:p>
          <a:p>
            <a:pPr marL="342900" indent="-342900">
              <a:buFont typeface="Arial" panose="020B0604020202020204" pitchFamily="34" charset="0"/>
              <a:buChar char="•"/>
            </a:pPr>
            <a:r>
              <a:rPr lang="vi-VN" sz="2200" dirty="0">
                <a:latin typeface="+mj-lt"/>
              </a:rPr>
              <a:t>Độ chính xác cảm biến môi trường. </a:t>
            </a:r>
          </a:p>
          <a:p>
            <a:pPr marL="342900" indent="-342900">
              <a:buFont typeface="Arial" panose="020B0604020202020204" pitchFamily="34" charset="0"/>
              <a:buChar char="•"/>
            </a:pPr>
            <a:r>
              <a:rPr lang="vi-VN" sz="2200" dirty="0">
                <a:latin typeface="+mj-lt"/>
              </a:rPr>
              <a:t>Khả năng hoạt động của hệ thống cân. </a:t>
            </a:r>
          </a:p>
          <a:p>
            <a:pPr marL="342900" indent="-342900">
              <a:buFont typeface="Arial" panose="020B0604020202020204" pitchFamily="34" charset="0"/>
              <a:buChar char="•"/>
            </a:pPr>
            <a:r>
              <a:rPr lang="vi-VN" sz="2200" dirty="0">
                <a:latin typeface="+mj-lt"/>
              </a:rPr>
              <a:t>Độ ổn định của AI và truyền dữ liệu IoT. </a:t>
            </a:r>
          </a:p>
          <a:p>
            <a:pPr marL="342900" indent="-342900">
              <a:buFont typeface="Arial" panose="020B0604020202020204" pitchFamily="34" charset="0"/>
              <a:buChar char="•"/>
            </a:pPr>
            <a:r>
              <a:rPr lang="vi-VN" sz="2200" dirty="0">
                <a:latin typeface="+mj-lt"/>
              </a:rPr>
              <a:t>Khả năng vận hành ngoài trời.</a:t>
            </a: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endParaRPr lang="en-US" sz="2200" dirty="0">
              <a:latin typeface="+mj-lt"/>
              <a:cs typeface="Times New Roman" panose="02020603050405020304" pitchFamily="18" charset="0"/>
            </a:endParaRPr>
          </a:p>
          <a:p>
            <a:r>
              <a:rPr lang="vi-VN" sz="2200" dirty="0">
                <a:latin typeface="+mj-lt"/>
                <a:cs typeface="Times New Roman" panose="02020603050405020304" pitchFamily="18" charset="0"/>
              </a:rPr>
              <a:t>Mỗi kịch bản được lặp lại từ </a:t>
            </a:r>
            <a:r>
              <a:rPr lang="en-US" sz="2200" dirty="0">
                <a:latin typeface="+mj-lt"/>
                <a:cs typeface="Times New Roman" panose="02020603050405020304" pitchFamily="18" charset="0"/>
              </a:rPr>
              <a:t>20</a:t>
            </a:r>
            <a:r>
              <a:rPr lang="vi-VN" sz="2200" dirty="0">
                <a:latin typeface="+mj-lt"/>
                <a:cs typeface="Times New Roman" panose="02020603050405020304" pitchFamily="18" charset="0"/>
              </a:rPr>
              <a:t>–</a:t>
            </a:r>
            <a:r>
              <a:rPr lang="en-US" sz="2200" dirty="0">
                <a:latin typeface="+mj-lt"/>
                <a:cs typeface="Times New Roman" panose="02020603050405020304" pitchFamily="18" charset="0"/>
              </a:rPr>
              <a:t>3</a:t>
            </a:r>
            <a:r>
              <a:rPr lang="vi-VN" sz="2200" dirty="0">
                <a:latin typeface="+mj-lt"/>
                <a:cs typeface="Times New Roman" panose="02020603050405020304" pitchFamily="18" charset="0"/>
              </a:rPr>
              <a:t>0 lần trong môi trường phòng thí nghiệm và ngoài trời để đảm bảo tính ổn định và độ tin cậy của kết quả đo. Kết quả được tổng hợp trong bảng sau:</a:t>
            </a:r>
          </a:p>
          <a:p>
            <a:endParaRPr lang="en-US" sz="2400"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568C0AC8-8CC6-894A-5F8E-109E6A800DAB}"/>
              </a:ext>
            </a:extLst>
          </p:cNvPr>
          <p:cNvSpPr txBox="1"/>
          <p:nvPr/>
        </p:nvSpPr>
        <p:spPr>
          <a:xfrm>
            <a:off x="19441790" y="19289885"/>
            <a:ext cx="3691203" cy="707886"/>
          </a:xfrm>
          <a:prstGeom prst="rect">
            <a:avLst/>
          </a:prstGeom>
          <a:noFill/>
        </p:spPr>
        <p:txBody>
          <a:bodyPr wrap="none" rtlCol="0">
            <a:spAutoFit/>
          </a:bodyPr>
          <a:lstStyle/>
          <a:p>
            <a:pPr algn="ctr"/>
            <a:r>
              <a:rPr lang="en-US" sz="2000" i="1" dirty="0" err="1">
                <a:solidFill>
                  <a:schemeClr val="tx1"/>
                </a:solidFill>
                <a:latin typeface="Times New Roman" panose="02020603050405020304" pitchFamily="18" charset="0"/>
                <a:cs typeface="Times New Roman" panose="02020603050405020304" pitchFamily="18" charset="0"/>
              </a:rPr>
              <a:t>Bảng</a:t>
            </a:r>
            <a:r>
              <a:rPr lang="en-US" sz="2000" i="1" dirty="0">
                <a:solidFill>
                  <a:schemeClr val="tx1"/>
                </a:solidFill>
                <a:latin typeface="Times New Roman" panose="02020603050405020304" pitchFamily="18" charset="0"/>
                <a:cs typeface="Times New Roman" panose="02020603050405020304" pitchFamily="18" charset="0"/>
              </a:rPr>
              <a:t> 1: </a:t>
            </a:r>
            <a:r>
              <a:rPr lang="en-US" sz="2000" i="1" dirty="0" err="1">
                <a:solidFill>
                  <a:schemeClr val="tx1"/>
                </a:solidFill>
                <a:latin typeface="Times New Roman" panose="02020603050405020304" pitchFamily="18" charset="0"/>
                <a:cs typeface="Times New Roman" panose="02020603050405020304" pitchFamily="18" charset="0"/>
              </a:rPr>
              <a:t>Kết</a:t>
            </a:r>
            <a:r>
              <a:rPr lang="en-US" sz="2000" i="1" dirty="0">
                <a:solidFill>
                  <a:schemeClr val="tx1"/>
                </a:solidFill>
                <a:latin typeface="Times New Roman" panose="02020603050405020304" pitchFamily="18" charset="0"/>
                <a:cs typeface="Times New Roman" panose="02020603050405020304" pitchFamily="18" charset="0"/>
              </a:rPr>
              <a:t> </a:t>
            </a:r>
            <a:r>
              <a:rPr lang="en-US" sz="2000" i="1" dirty="0" err="1">
                <a:solidFill>
                  <a:schemeClr val="tx1"/>
                </a:solidFill>
                <a:latin typeface="Times New Roman" panose="02020603050405020304" pitchFamily="18" charset="0"/>
                <a:cs typeface="Times New Roman" panose="02020603050405020304" pitchFamily="18" charset="0"/>
              </a:rPr>
              <a:t>quả</a:t>
            </a:r>
            <a:r>
              <a:rPr lang="en-US" sz="2000" i="1" dirty="0">
                <a:solidFill>
                  <a:schemeClr val="tx1"/>
                </a:solidFill>
                <a:latin typeface="Times New Roman" panose="02020603050405020304" pitchFamily="18" charset="0"/>
                <a:cs typeface="Times New Roman" panose="02020603050405020304" pitchFamily="18" charset="0"/>
              </a:rPr>
              <a:t> </a:t>
            </a:r>
            <a:r>
              <a:rPr lang="en-US" sz="2000" i="1" dirty="0" err="1">
                <a:solidFill>
                  <a:schemeClr val="tx1"/>
                </a:solidFill>
                <a:latin typeface="Times New Roman" panose="02020603050405020304" pitchFamily="18" charset="0"/>
                <a:cs typeface="Times New Roman" panose="02020603050405020304" pitchFamily="18" charset="0"/>
              </a:rPr>
              <a:t>thực</a:t>
            </a:r>
            <a:r>
              <a:rPr lang="en-US" sz="2000" i="1" dirty="0">
                <a:solidFill>
                  <a:schemeClr val="tx1"/>
                </a:solidFill>
                <a:latin typeface="Times New Roman" panose="02020603050405020304" pitchFamily="18" charset="0"/>
                <a:cs typeface="Times New Roman" panose="02020603050405020304" pitchFamily="18" charset="0"/>
              </a:rPr>
              <a:t> </a:t>
            </a:r>
            <a:r>
              <a:rPr lang="en-US" sz="2000" i="1" dirty="0" err="1">
                <a:solidFill>
                  <a:schemeClr val="tx1"/>
                </a:solidFill>
                <a:latin typeface="Times New Roman" panose="02020603050405020304" pitchFamily="18" charset="0"/>
                <a:cs typeface="Times New Roman" panose="02020603050405020304" pitchFamily="18" charset="0"/>
              </a:rPr>
              <a:t>nghiệm</a:t>
            </a:r>
            <a:endParaRPr lang="vi-VN" sz="2000" i="1" dirty="0">
              <a:solidFill>
                <a:schemeClr val="tx1"/>
              </a:solidFill>
              <a:latin typeface="Times New Roman" panose="02020603050405020304" pitchFamily="18" charset="0"/>
              <a:cs typeface="Times New Roman" panose="02020603050405020304" pitchFamily="18" charset="0"/>
            </a:endParaRPr>
          </a:p>
          <a:p>
            <a:endParaRPr lang="en-US" sz="2000" dirty="0"/>
          </a:p>
        </p:txBody>
      </p:sp>
      <p:sp>
        <p:nvSpPr>
          <p:cNvPr id="74" name="AutoShape 10" descr="Sơ đồ kỹ thuật hệ thống tổng hợp">
            <a:extLst>
              <a:ext uri="{FF2B5EF4-FFF2-40B4-BE49-F238E27FC236}">
                <a16:creationId xmlns:a16="http://schemas.microsoft.com/office/drawing/2014/main" id="{23CC7FEE-503A-7759-9197-B4114B0206FB}"/>
              </a:ext>
            </a:extLst>
          </p:cNvPr>
          <p:cNvSpPr>
            <a:spLocks noChangeAspect="1" noChangeArrowheads="1"/>
          </p:cNvSpPr>
          <p:nvPr/>
        </p:nvSpPr>
        <p:spPr bwMode="auto">
          <a:xfrm>
            <a:off x="17718088" y="98996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6" name="Picture 75">
            <a:extLst>
              <a:ext uri="{FF2B5EF4-FFF2-40B4-BE49-F238E27FC236}">
                <a16:creationId xmlns:a16="http://schemas.microsoft.com/office/drawing/2014/main" id="{CC8B0657-BD95-4CFB-B24B-6DBAF028613F}"/>
              </a:ext>
            </a:extLst>
          </p:cNvPr>
          <p:cNvPicPr>
            <a:picLocks noChangeAspect="1"/>
          </p:cNvPicPr>
          <p:nvPr/>
        </p:nvPicPr>
        <p:blipFill>
          <a:blip r:embed="rId7">
            <a:extLst>
              <a:ext uri="{28A0092B-C50C-407E-A947-70E740481C1C}">
                <a14:useLocalDpi xmlns:a14="http://schemas.microsoft.com/office/drawing/2010/main" val="0"/>
              </a:ext>
            </a:extLst>
          </a:blip>
          <a:srcRect t="7825" b="3103"/>
          <a:stretch>
            <a:fillRect/>
          </a:stretch>
        </p:blipFill>
        <p:spPr>
          <a:xfrm>
            <a:off x="26462500" y="4886512"/>
            <a:ext cx="7681144" cy="4328608"/>
          </a:xfrm>
          <a:prstGeom prst="rect">
            <a:avLst/>
          </a:prstGeom>
        </p:spPr>
      </p:pic>
      <p:pic>
        <p:nvPicPr>
          <p:cNvPr id="78" name="Picture 77">
            <a:extLst>
              <a:ext uri="{FF2B5EF4-FFF2-40B4-BE49-F238E27FC236}">
                <a16:creationId xmlns:a16="http://schemas.microsoft.com/office/drawing/2014/main" id="{E19FBCE0-2565-A040-32D5-EAD05BA448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28397" y="15072295"/>
            <a:ext cx="4503512" cy="3379586"/>
          </a:xfrm>
          <a:prstGeom prst="rect">
            <a:avLst/>
          </a:prstGeom>
        </p:spPr>
      </p:pic>
      <p:pic>
        <p:nvPicPr>
          <p:cNvPr id="82" name="Picture 81">
            <a:extLst>
              <a:ext uri="{FF2B5EF4-FFF2-40B4-BE49-F238E27FC236}">
                <a16:creationId xmlns:a16="http://schemas.microsoft.com/office/drawing/2014/main" id="{EF6BA611-5498-D40D-1A2F-C662AAE0AA2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304443" y="15504228"/>
            <a:ext cx="4102950" cy="3078990"/>
          </a:xfrm>
          <a:prstGeom prst="rect">
            <a:avLst/>
          </a:prstGeom>
        </p:spPr>
      </p:pic>
      <p:sp>
        <p:nvSpPr>
          <p:cNvPr id="83" name="TextBox 82">
            <a:extLst>
              <a:ext uri="{FF2B5EF4-FFF2-40B4-BE49-F238E27FC236}">
                <a16:creationId xmlns:a16="http://schemas.microsoft.com/office/drawing/2014/main" id="{5825B21C-393D-EE85-D159-E46855150E18}"/>
              </a:ext>
            </a:extLst>
          </p:cNvPr>
          <p:cNvSpPr txBox="1"/>
          <p:nvPr/>
        </p:nvSpPr>
        <p:spPr>
          <a:xfrm>
            <a:off x="11699699" y="18402880"/>
            <a:ext cx="3626314" cy="707886"/>
          </a:xfrm>
          <a:prstGeom prst="rect">
            <a:avLst/>
          </a:prstGeom>
          <a:noFill/>
        </p:spPr>
        <p:txBody>
          <a:bodyPr wrap="none" rtlCol="0">
            <a:spAutoFit/>
          </a:bodyPr>
          <a:lstStyle/>
          <a:p>
            <a:pPr algn="ctr"/>
            <a:r>
              <a:rPr lang="en-US" sz="2000" i="1" dirty="0" err="1">
                <a:solidFill>
                  <a:schemeClr val="tx1"/>
                </a:solidFill>
                <a:latin typeface="Times New Roman" panose="02020603050405020304" pitchFamily="18" charset="0"/>
                <a:cs typeface="Times New Roman" panose="02020603050405020304" pitchFamily="18" charset="0"/>
              </a:rPr>
              <a:t>Hình</a:t>
            </a:r>
            <a:r>
              <a:rPr lang="en-US" sz="2000" i="1" dirty="0">
                <a:solidFill>
                  <a:schemeClr val="tx1"/>
                </a:solidFill>
                <a:latin typeface="Times New Roman" panose="02020603050405020304" pitchFamily="18" charset="0"/>
                <a:cs typeface="Times New Roman" panose="02020603050405020304" pitchFamily="18" charset="0"/>
              </a:rPr>
              <a:t> 4,5: </a:t>
            </a:r>
            <a:r>
              <a:rPr lang="en-US" sz="2000" i="1" dirty="0" err="1">
                <a:solidFill>
                  <a:schemeClr val="tx1"/>
                </a:solidFill>
                <a:latin typeface="Times New Roman" panose="02020603050405020304" pitchFamily="18" charset="0"/>
                <a:cs typeface="Times New Roman" panose="02020603050405020304" pitchFamily="18" charset="0"/>
              </a:rPr>
              <a:t>Sản</a:t>
            </a:r>
            <a:r>
              <a:rPr lang="en-US" sz="2000" i="1" dirty="0">
                <a:solidFill>
                  <a:schemeClr val="tx1"/>
                </a:solidFill>
                <a:latin typeface="Times New Roman" panose="02020603050405020304" pitchFamily="18" charset="0"/>
                <a:cs typeface="Times New Roman" panose="02020603050405020304" pitchFamily="18" charset="0"/>
              </a:rPr>
              <a:t> </a:t>
            </a:r>
            <a:r>
              <a:rPr lang="en-US" sz="2000" i="1" dirty="0" err="1">
                <a:solidFill>
                  <a:schemeClr val="tx1"/>
                </a:solidFill>
                <a:latin typeface="Times New Roman" panose="02020603050405020304" pitchFamily="18" charset="0"/>
                <a:cs typeface="Times New Roman" panose="02020603050405020304" pitchFamily="18" charset="0"/>
              </a:rPr>
              <a:t>phẩm</a:t>
            </a:r>
            <a:r>
              <a:rPr lang="en-US" sz="2000" i="1" dirty="0">
                <a:solidFill>
                  <a:schemeClr val="tx1"/>
                </a:solidFill>
                <a:latin typeface="Times New Roman" panose="02020603050405020304" pitchFamily="18" charset="0"/>
                <a:cs typeface="Times New Roman" panose="02020603050405020304" pitchFamily="18" charset="0"/>
              </a:rPr>
              <a:t> prototype</a:t>
            </a:r>
            <a:endParaRPr lang="vi-VN" sz="2000" i="1" dirty="0">
              <a:solidFill>
                <a:schemeClr val="tx1"/>
              </a:solidFill>
              <a:latin typeface="Times New Roman" panose="02020603050405020304" pitchFamily="18" charset="0"/>
              <a:cs typeface="Times New Roman" panose="02020603050405020304" pitchFamily="18" charset="0"/>
            </a:endParaRPr>
          </a:p>
          <a:p>
            <a:endParaRPr lang="en-US" sz="2000" dirty="0"/>
          </a:p>
        </p:txBody>
      </p:sp>
      <p:pic>
        <p:nvPicPr>
          <p:cNvPr id="15" name="Picture 14">
            <a:extLst>
              <a:ext uri="{FF2B5EF4-FFF2-40B4-BE49-F238E27FC236}">
                <a16:creationId xmlns:a16="http://schemas.microsoft.com/office/drawing/2014/main" id="{4000A4BD-1F5C-549B-BEAE-A9D6E1D078C9}"/>
              </a:ext>
            </a:extLst>
          </p:cNvPr>
          <p:cNvPicPr>
            <a:picLocks noChangeAspect="1"/>
          </p:cNvPicPr>
          <p:nvPr/>
        </p:nvPicPr>
        <p:blipFill>
          <a:blip r:embed="rId10"/>
          <a:stretch>
            <a:fillRect/>
          </a:stretch>
        </p:blipFill>
        <p:spPr>
          <a:xfrm>
            <a:off x="9622404" y="4085487"/>
            <a:ext cx="15020759" cy="7572620"/>
          </a:xfrm>
          <a:prstGeom prst="rect">
            <a:avLst/>
          </a:prstGeom>
        </p:spPr>
      </p:pic>
      <p:sp>
        <p:nvSpPr>
          <p:cNvPr id="27" name="TextBox 26">
            <a:extLst>
              <a:ext uri="{FF2B5EF4-FFF2-40B4-BE49-F238E27FC236}">
                <a16:creationId xmlns:a16="http://schemas.microsoft.com/office/drawing/2014/main" id="{4F68B86A-BF8E-C0E6-167A-7C70CF154827}"/>
              </a:ext>
            </a:extLst>
          </p:cNvPr>
          <p:cNvSpPr txBox="1"/>
          <p:nvPr/>
        </p:nvSpPr>
        <p:spPr>
          <a:xfrm>
            <a:off x="15181844" y="11235361"/>
            <a:ext cx="3992568" cy="830997"/>
          </a:xfrm>
          <a:prstGeom prst="rect">
            <a:avLst/>
          </a:prstGeom>
          <a:noFill/>
        </p:spPr>
        <p:txBody>
          <a:bodyPr wrap="none" rtlCol="0">
            <a:spAutoFit/>
          </a:bodyPr>
          <a:lstStyle/>
          <a:p>
            <a:pPr algn="ctr"/>
            <a:r>
              <a:rPr lang="en-US" sz="2400" i="1" dirty="0" err="1">
                <a:solidFill>
                  <a:schemeClr val="tx1"/>
                </a:solidFill>
                <a:latin typeface="Times New Roman" panose="02020603050405020304" pitchFamily="18" charset="0"/>
                <a:cs typeface="Times New Roman" panose="02020603050405020304" pitchFamily="18" charset="0"/>
              </a:rPr>
              <a:t>Hình</a:t>
            </a:r>
            <a:r>
              <a:rPr lang="en-US" sz="2400" i="1" dirty="0">
                <a:solidFill>
                  <a:schemeClr val="tx1"/>
                </a:solidFill>
                <a:latin typeface="Times New Roman" panose="02020603050405020304" pitchFamily="18" charset="0"/>
                <a:cs typeface="Times New Roman" panose="02020603050405020304" pitchFamily="18" charset="0"/>
              </a:rPr>
              <a:t> 2: </a:t>
            </a:r>
            <a:r>
              <a:rPr lang="en-US" sz="2400" i="1" dirty="0" err="1">
                <a:solidFill>
                  <a:schemeClr val="tx1"/>
                </a:solidFill>
                <a:latin typeface="Times New Roman" panose="02020603050405020304" pitchFamily="18" charset="0"/>
                <a:cs typeface="Times New Roman" panose="02020603050405020304" pitchFamily="18" charset="0"/>
              </a:rPr>
              <a:t>Tổng</a:t>
            </a:r>
            <a:r>
              <a:rPr lang="en-US" sz="2400" i="1" dirty="0">
                <a:solidFill>
                  <a:schemeClr val="tx1"/>
                </a:solidFill>
                <a:latin typeface="Times New Roman" panose="02020603050405020304" pitchFamily="18" charset="0"/>
                <a:cs typeface="Times New Roman" panose="02020603050405020304" pitchFamily="18" charset="0"/>
              </a:rPr>
              <a:t> </a:t>
            </a:r>
            <a:r>
              <a:rPr lang="en-US" sz="2400" i="1" dirty="0" err="1">
                <a:solidFill>
                  <a:schemeClr val="tx1"/>
                </a:solidFill>
                <a:latin typeface="Times New Roman" panose="02020603050405020304" pitchFamily="18" charset="0"/>
                <a:cs typeface="Times New Roman" panose="02020603050405020304" pitchFamily="18" charset="0"/>
              </a:rPr>
              <a:t>quan</a:t>
            </a:r>
            <a:r>
              <a:rPr lang="en-US" sz="2400" i="1" dirty="0">
                <a:solidFill>
                  <a:schemeClr val="tx1"/>
                </a:solidFill>
                <a:latin typeface="Times New Roman" panose="02020603050405020304" pitchFamily="18" charset="0"/>
                <a:cs typeface="Times New Roman" panose="02020603050405020304" pitchFamily="18" charset="0"/>
              </a:rPr>
              <a:t> </a:t>
            </a:r>
            <a:r>
              <a:rPr lang="en-US" sz="2400" i="1" dirty="0" err="1">
                <a:solidFill>
                  <a:schemeClr val="tx1"/>
                </a:solidFill>
                <a:latin typeface="Times New Roman" panose="02020603050405020304" pitchFamily="18" charset="0"/>
                <a:cs typeface="Times New Roman" panose="02020603050405020304" pitchFamily="18" charset="0"/>
              </a:rPr>
              <a:t>hệ</a:t>
            </a:r>
            <a:r>
              <a:rPr lang="en-US" sz="2400" i="1" dirty="0">
                <a:solidFill>
                  <a:schemeClr val="tx1"/>
                </a:solidFill>
                <a:latin typeface="Times New Roman" panose="02020603050405020304" pitchFamily="18" charset="0"/>
                <a:cs typeface="Times New Roman" panose="02020603050405020304" pitchFamily="18" charset="0"/>
              </a:rPr>
              <a:t> </a:t>
            </a:r>
            <a:r>
              <a:rPr lang="en-US" sz="2400" i="1" dirty="0" err="1">
                <a:solidFill>
                  <a:schemeClr val="tx1"/>
                </a:solidFill>
                <a:latin typeface="Times New Roman" panose="02020603050405020304" pitchFamily="18" charset="0"/>
                <a:cs typeface="Times New Roman" panose="02020603050405020304" pitchFamily="18" charset="0"/>
              </a:rPr>
              <a:t>thống</a:t>
            </a:r>
            <a:endParaRPr lang="vi-VN" sz="2400" i="1" dirty="0">
              <a:solidFill>
                <a:schemeClr val="tx1"/>
              </a:solidFill>
              <a:latin typeface="Times New Roman" panose="02020603050405020304" pitchFamily="18" charset="0"/>
              <a:cs typeface="Times New Roman" panose="02020603050405020304" pitchFamily="18" charset="0"/>
            </a:endParaRPr>
          </a:p>
          <a:p>
            <a:endParaRPr lang="en-US" sz="2400" dirty="0"/>
          </a:p>
        </p:txBody>
      </p:sp>
      <p:pic>
        <p:nvPicPr>
          <p:cNvPr id="21" name="Picture 20">
            <a:extLst>
              <a:ext uri="{FF2B5EF4-FFF2-40B4-BE49-F238E27FC236}">
                <a16:creationId xmlns:a16="http://schemas.microsoft.com/office/drawing/2014/main" id="{EBC1B6A3-88BA-5E83-7D2D-212A280DC18D}"/>
              </a:ext>
            </a:extLst>
          </p:cNvPr>
          <p:cNvPicPr>
            <a:picLocks noChangeAspect="1"/>
          </p:cNvPicPr>
          <p:nvPr/>
        </p:nvPicPr>
        <p:blipFill>
          <a:blip r:embed="rId11"/>
          <a:stretch>
            <a:fillRect/>
          </a:stretch>
        </p:blipFill>
        <p:spPr>
          <a:xfrm>
            <a:off x="17301794" y="12293176"/>
            <a:ext cx="7426404" cy="69867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5C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750</TotalTime>
  <Words>870</Words>
  <Application>Microsoft Office PowerPoint</Application>
  <PresentationFormat>Custom</PresentationFormat>
  <Paragraphs>99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Ver2_Poster.pptx</dc:title>
  <dc:creator>ADMIN</dc:creator>
  <cp:lastModifiedBy>Phan Nữ Kiều Hạnh</cp:lastModifiedBy>
  <cp:revision>6</cp:revision>
  <dcterms:created xsi:type="dcterms:W3CDTF">2026-04-27T08:25:26Z</dcterms:created>
  <dcterms:modified xsi:type="dcterms:W3CDTF">2026-05-15T10:16:37Z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2026-04-27T00:00:00Z</vt:filetime>
  </property>
  <property fmtid="{D5CDD505-2E9C-101B-9397-08002B2CF9AE}" pid="3" name="Creator">
    <vt:lpwstr>Google</vt:lpwstr>
  </property>
  <property fmtid="{D5CDD505-2E9C-101B-9397-08002B2CF9AE}" pid="4" name="LastSaved">
    <vt:filetime>2026-04-27T00:00:00Z</vt:filetime>
  </property>
</Properties>
</file>